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5"/>
  </p:notesMasterIdLst>
  <p:sldIdLst>
    <p:sldId id="265" r:id="rId6"/>
    <p:sldId id="266" r:id="rId7"/>
    <p:sldId id="264" r:id="rId8"/>
    <p:sldId id="262" r:id="rId9"/>
    <p:sldId id="263" r:id="rId10"/>
    <p:sldId id="256" r:id="rId11"/>
    <p:sldId id="261" r:id="rId12"/>
    <p:sldId id="259" r:id="rId13"/>
    <p:sldId id="257" r:id="rId14"/>
  </p:sldIdLst>
  <p:sldSz cx="12192000" cy="6858000"/>
  <p:notesSz cx="7010400" cy="92964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Dyck" userId="be3138bb-ba12-434a-9f0c-f121140ec7bc" providerId="ADAL" clId="{0050A1B3-29BB-47B3-B72D-C8B913140783}"/>
    <pc:docChg chg="modSld">
      <pc:chgData name="David Dyck" userId="be3138bb-ba12-434a-9f0c-f121140ec7bc" providerId="ADAL" clId="{0050A1B3-29BB-47B3-B72D-C8B913140783}" dt="2026-10-15T18:04:20.832" v="15" actId="20577"/>
      <pc:docMkLst>
        <pc:docMk/>
      </pc:docMkLst>
      <pc:sldChg chg="modSp mod">
        <pc:chgData name="David Dyck" userId="be3138bb-ba12-434a-9f0c-f121140ec7bc" providerId="ADAL" clId="{0050A1B3-29BB-47B3-B72D-C8B913140783}" dt="2026-10-15T18:04:20.832" v="15" actId="20577"/>
        <pc:sldMkLst>
          <pc:docMk/>
          <pc:sldMk cId="2790674669" sldId="265"/>
        </pc:sldMkLst>
        <pc:spChg chg="mod">
          <ac:chgData name="David Dyck" userId="be3138bb-ba12-434a-9f0c-f121140ec7bc" providerId="ADAL" clId="{0050A1B3-29BB-47B3-B72D-C8B913140783}" dt="2026-10-15T18:04:20.832" v="15" actId="20577"/>
          <ac:spMkLst>
            <pc:docMk/>
            <pc:sldMk cId="2790674669" sldId="265"/>
            <ac:spMk id="21" creationId="{D4BF6625-298D-F44E-6D6C-F449915B07C5}"/>
          </ac:spMkLst>
        </pc:spChg>
      </pc:sldChg>
    </pc:docChg>
  </pc:docChgLst>
  <pc:docChgLst>
    <pc:chgData name="David Dyck" userId="S::david.dyck@bayer.com::be3138bb-ba12-434a-9f0c-f121140ec7bc" providerId="AD" clId="Web-{FCDA9831-8DBA-9BDB-85A9-C84541ED3CF3}"/>
    <pc:docChg chg="modSld">
      <pc:chgData name="David Dyck" userId="S::david.dyck@bayer.com::be3138bb-ba12-434a-9f0c-f121140ec7bc" providerId="AD" clId="Web-{FCDA9831-8DBA-9BDB-85A9-C84541ED3CF3}" dt="2026-09-17T18:29:57.152" v="17" actId="20577"/>
      <pc:docMkLst>
        <pc:docMk/>
      </pc:docMkLst>
      <pc:sldChg chg="modSp">
        <pc:chgData name="David Dyck" userId="S::david.dyck@bayer.com::be3138bb-ba12-434a-9f0c-f121140ec7bc" providerId="AD" clId="Web-{FCDA9831-8DBA-9BDB-85A9-C84541ED3CF3}" dt="2026-09-17T18:29:57.152" v="17" actId="20577"/>
        <pc:sldMkLst>
          <pc:docMk/>
          <pc:sldMk cId="2790674669" sldId="265"/>
        </pc:sldMkLst>
        <pc:spChg chg="mod">
          <ac:chgData name="David Dyck" userId="S::david.dyck@bayer.com::be3138bb-ba12-434a-9f0c-f121140ec7bc" providerId="AD" clId="Web-{FCDA9831-8DBA-9BDB-85A9-C84541ED3CF3}" dt="2026-09-17T18:29:57.152" v="17" actId="20577"/>
          <ac:spMkLst>
            <pc:docMk/>
            <pc:sldMk cId="2790674669" sldId="265"/>
            <ac:spMk id="32" creationId="{8EF3925C-0C20-14A7-B4E5-8BB9808EBB7C}"/>
          </ac:spMkLst>
        </pc:spChg>
        <pc:spChg chg="mod">
          <ac:chgData name="David Dyck" userId="S::david.dyck@bayer.com::be3138bb-ba12-434a-9f0c-f121140ec7bc" providerId="AD" clId="Web-{FCDA9831-8DBA-9BDB-85A9-C84541ED3CF3}" dt="2026-09-17T18:29:40.777" v="14" actId="20577"/>
          <ac:spMkLst>
            <pc:docMk/>
            <pc:sldMk cId="2790674669" sldId="265"/>
            <ac:spMk id="35" creationId="{3699DF1E-CE18-B910-BAAD-FA9776E41C89}"/>
          </ac:spMkLst>
        </pc:spChg>
      </pc:sldChg>
    </pc:docChg>
  </pc:docChgLst>
  <pc:docChgLst>
    <pc:chgData name="David Dyck" userId="S::david.dyck@bayer.com::be3138bb-ba12-434a-9f0c-f121140ec7bc" providerId="AD" clId="Web-{388F97AD-8285-7365-B7C3-66CE55ADEC9A}"/>
    <pc:docChg chg="modSld">
      <pc:chgData name="David Dyck" userId="S::david.dyck@bayer.com::be3138bb-ba12-434a-9f0c-f121140ec7bc" providerId="AD" clId="Web-{388F97AD-8285-7365-B7C3-66CE55ADEC9A}" dt="2026-10-13T15:59:57.772" v="1" actId="20577"/>
      <pc:docMkLst>
        <pc:docMk/>
      </pc:docMkLst>
      <pc:sldChg chg="modSp">
        <pc:chgData name="David Dyck" userId="S::david.dyck@bayer.com::be3138bb-ba12-434a-9f0c-f121140ec7bc" providerId="AD" clId="Web-{388F97AD-8285-7365-B7C3-66CE55ADEC9A}" dt="2026-10-13T15:59:57.772" v="1" actId="20577"/>
        <pc:sldMkLst>
          <pc:docMk/>
          <pc:sldMk cId="2790674669" sldId="265"/>
        </pc:sldMkLst>
        <pc:spChg chg="mod">
          <ac:chgData name="David Dyck" userId="S::david.dyck@bayer.com::be3138bb-ba12-434a-9f0c-f121140ec7bc" providerId="AD" clId="Web-{388F97AD-8285-7365-B7C3-66CE55ADEC9A}" dt="2026-10-13T15:59:57.772" v="1" actId="20577"/>
          <ac:spMkLst>
            <pc:docMk/>
            <pc:sldMk cId="2790674669" sldId="265"/>
            <ac:spMk id="29" creationId="{01D7ED44-4183-6BFB-6B6C-D540EFE57E85}"/>
          </ac:spMkLst>
        </pc:spChg>
      </pc:sldChg>
    </pc:docChg>
  </pc:docChgLst>
  <pc:docChgLst>
    <pc:chgData name="David Dyck" userId="S::david.dyck@bayer.com::be3138bb-ba12-434a-9f0c-f121140ec7bc" providerId="AD" clId="Web-{3DDC6A50-0166-30EE-DCDB-A6BB65A12CBA}"/>
    <pc:docChg chg="modSld">
      <pc:chgData name="David Dyck" userId="S::david.dyck@bayer.com::be3138bb-ba12-434a-9f0c-f121140ec7bc" providerId="AD" clId="Web-{3DDC6A50-0166-30EE-DCDB-A6BB65A12CBA}" dt="2026-09-17T14:30:33.095" v="0" actId="20577"/>
      <pc:docMkLst>
        <pc:docMk/>
      </pc:docMkLst>
      <pc:sldChg chg="modSp">
        <pc:chgData name="David Dyck" userId="S::david.dyck@bayer.com::be3138bb-ba12-434a-9f0c-f121140ec7bc" providerId="AD" clId="Web-{3DDC6A50-0166-30EE-DCDB-A6BB65A12CBA}" dt="2026-09-17T14:30:33.095" v="0" actId="20577"/>
        <pc:sldMkLst>
          <pc:docMk/>
          <pc:sldMk cId="2790674669" sldId="265"/>
        </pc:sldMkLst>
        <pc:spChg chg="mod">
          <ac:chgData name="David Dyck" userId="S::david.dyck@bayer.com::be3138bb-ba12-434a-9f0c-f121140ec7bc" providerId="AD" clId="Web-{3DDC6A50-0166-30EE-DCDB-A6BB65A12CBA}" dt="2026-09-17T14:30:33.095" v="0" actId="20577"/>
          <ac:spMkLst>
            <pc:docMk/>
            <pc:sldMk cId="2790674669" sldId="265"/>
            <ac:spMk id="12" creationId="{DC6406ED-8500-A7D8-C981-1BD42C017573}"/>
          </ac:spMkLst>
        </pc:spChg>
      </pc:sldChg>
    </pc:docChg>
  </pc:docChgLst>
  <pc:docChgLst>
    <pc:chgData clId="Web-{B3BAF5F2-D517-A002-C9C9-A044250C79AB}"/>
    <pc:docChg chg="modSld">
      <pc:chgData name="" userId="" providerId="" clId="Web-{B3BAF5F2-D517-A002-C9C9-A044250C79AB}" dt="2026-10-06T15:09:29.109" v="2" actId="20577"/>
      <pc:docMkLst>
        <pc:docMk/>
      </pc:docMkLst>
      <pc:sldChg chg="modSp">
        <pc:chgData name="" userId="" providerId="" clId="Web-{B3BAF5F2-D517-A002-C9C9-A044250C79AB}" dt="2026-10-06T15:09:29.109" v="2" actId="20577"/>
        <pc:sldMkLst>
          <pc:docMk/>
          <pc:sldMk cId="2790674669" sldId="265"/>
        </pc:sldMkLst>
        <pc:spChg chg="mod">
          <ac:chgData name="" userId="" providerId="" clId="Web-{B3BAF5F2-D517-A002-C9C9-A044250C79AB}" dt="2026-10-06T15:09:29.109" v="2" actId="20577"/>
          <ac:spMkLst>
            <pc:docMk/>
            <pc:sldMk cId="2790674669" sldId="265"/>
            <ac:spMk id="22" creationId="{0058B615-D9D7-8BC8-E050-0001A2D11A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CA87B-58ED-467D-ABFD-E393A09BD54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7DC66-3319-463C-BF89-C0ACF9082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94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7DC66-3319-463C-BF89-C0ACF90820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05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7DC66-3319-463C-BF89-C0ACF90820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05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E5C5-4AF7-4967-966E-D1EF0CA3F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D3C72-4E96-42AB-A957-D16462AC3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0F7E3-FE67-455B-906E-F7A517D0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A8F99-D968-4914-BB87-16F3146F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C3AEF-B3F9-48F8-8DEF-9710E0803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3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120E7-0405-4512-AF11-916878FC6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2BA4C-1F89-4774-90C5-B81DEFDD1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BE4DE-5697-4460-871C-C719B853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ACDDC-0734-43A1-8837-93F35B87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8DACC-02CC-4BA8-A3C5-2276F980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A8D6-F2F9-42D4-A7F7-7437D3AA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BEFE8-F475-42B2-8C49-EEE2F563D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88EDC-EC76-4432-8715-5BE021DB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BBDA0-38D4-462F-92F1-9131418F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3A795-48B8-4CB1-9AE0-053454B2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50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8675B-07FB-443E-B56A-AB743F1D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7471D-7F93-4A4F-9A9E-8F0501F61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72595-90FC-4BCF-BF27-12B56C840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B91BC-850B-4C59-AAA8-52104933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A62A6-EC74-4AE7-A48C-37BB6625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CE821-2D7C-4B62-A5E0-EB6CA291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9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C2E4-2694-4AFB-9FFC-7F13E775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CA5AD-87C6-4909-B010-1A0AA694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0D450-2DB1-45EB-B42A-5573E1DFC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EE5F82-6782-4CB1-B4C0-E5499E4C3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A7D13-F876-4A0B-A939-BCC1D51D94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886D7-9B6C-453E-9885-4AEBB0B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6284D4-B847-4D37-9208-F62F6F480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F7C153-27AB-4804-AAB1-59B5B43D1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0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AF78-874E-4977-9B8F-AC6E8CFD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F9CEA-DCF9-4A68-88A8-742275B63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F1393-82CA-4828-B697-E167ACD3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14BE10-9CF9-4257-BA4A-83B7CC1C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26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32FFB-BEF6-474D-8EC9-F6E95A0C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06F6E-EE6C-4D4C-AE6A-EF372473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79BE1-469F-459F-8939-C9006E471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5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0596C-6FC9-4DEF-AE31-CDF32014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C6C85-1931-481F-B962-99623D58C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4D290-FB41-4C6C-941E-33D5F0564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57773-59D4-42E4-B911-94B10B03F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02B2B-2B9B-4561-8476-CEFC824F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CE137-9BE5-44F7-BCCC-5AA8FBA5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83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A19C-8BD3-441B-916C-7D5A0E63E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29217D-9D2A-4BB0-ABB2-822D700923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4B9A0-8ECF-480D-931D-7DA668950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BE4E4-311A-432E-BB31-FF6422D89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2D760-09C4-452E-87E3-C3BE136B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92896-2122-4A38-BF80-F4E904B59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7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B102-50A7-4367-99AF-00CDA78E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54C9A-8AED-4CBC-B757-D244353C2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7F8E4-E98E-4E31-8E04-3B90F542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8C446-0B79-42F2-8319-9C2CC7CA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ED648-8870-4DE8-BC03-C96BE1AC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8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2BA172-D823-43B3-9853-F63397AA1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81227-13D5-4CF5-B4E0-D7AEFF2F6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9DE34-027B-469C-BB60-8ECDB463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C0180-EB42-4E58-AD54-6889BCF88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7667E-2F5C-4F59-969B-83572646B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59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A739DE-4B50-4F37-B567-83B2DCEB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5E6A5-0788-4B48-A519-0E9114479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E962A-9AE8-4E79-997F-F8201713D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C9F1A-480F-4586-9340-3EFD0E9B8056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98D29-B5FB-42A5-A1DD-2A786FEDA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CEE4F-8F87-414B-880E-0A775BF378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B1956-EAFE-43C8-9774-2E5DA773B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68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4C6670C2-6983-0E32-569A-75269FF554A8}"/>
              </a:ext>
            </a:extLst>
          </p:cNvPr>
          <p:cNvGrpSpPr/>
          <p:nvPr/>
        </p:nvGrpSpPr>
        <p:grpSpPr>
          <a:xfrm>
            <a:off x="842064" y="-108857"/>
            <a:ext cx="9553417" cy="6841670"/>
            <a:chOff x="1360045" y="-108857"/>
            <a:chExt cx="9553417" cy="684167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8BD5F2C-BFC7-F053-8111-2D45F1484777}"/>
                </a:ext>
              </a:extLst>
            </p:cNvPr>
            <p:cNvGrpSpPr/>
            <p:nvPr/>
          </p:nvGrpSpPr>
          <p:grpSpPr>
            <a:xfrm>
              <a:off x="1360045" y="-108857"/>
              <a:ext cx="9553417" cy="6841670"/>
              <a:chOff x="1360045" y="-108857"/>
              <a:chExt cx="9553417" cy="684167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DA98C25-222B-0FAA-9065-5B4A2CF2314F}"/>
                  </a:ext>
                </a:extLst>
              </p:cNvPr>
              <p:cNvGrpSpPr/>
              <p:nvPr/>
            </p:nvGrpSpPr>
            <p:grpSpPr>
              <a:xfrm>
                <a:off x="1360045" y="-108857"/>
                <a:ext cx="8354310" cy="6841670"/>
                <a:chOff x="1360045" y="-108857"/>
                <a:chExt cx="8354310" cy="6841670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C0355864-B619-A901-ECA7-43B1A1364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5201"/>
                <a:stretch/>
              </p:blipFill>
              <p:spPr>
                <a:xfrm rot="10800000">
                  <a:off x="1360045" y="-108857"/>
                  <a:ext cx="8354310" cy="6841670"/>
                </a:xfrm>
                <a:prstGeom prst="rect">
                  <a:avLst/>
                </a:prstGeom>
              </p:spPr>
            </p:pic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8ED2142-693A-E81F-8BF7-454D50E80555}"/>
                    </a:ext>
                  </a:extLst>
                </p:cNvPr>
                <p:cNvSpPr/>
                <p:nvPr/>
              </p:nvSpPr>
              <p:spPr>
                <a:xfrm>
                  <a:off x="7086009" y="3056270"/>
                  <a:ext cx="1350335" cy="37213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C6406ED-8500-A7D8-C981-1BD42C017573}"/>
                  </a:ext>
                </a:extLst>
              </p:cNvPr>
              <p:cNvSpPr/>
              <p:nvPr/>
            </p:nvSpPr>
            <p:spPr>
              <a:xfrm>
                <a:off x="2158409" y="1063257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I840</a:t>
                </a:r>
              </a:p>
              <a:p>
                <a:pPr algn="ctr"/>
                <a:r>
                  <a:rPr lang="en-US" sz="1600" b="1">
                    <a:ea typeface="Calibri"/>
                    <a:cs typeface="Calibri"/>
                  </a:rPr>
                  <a:t>?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3CF4DB1-5A1E-DC5D-B5E9-96E71D927BEC}"/>
                  </a:ext>
                </a:extLst>
              </p:cNvPr>
              <p:cNvSpPr/>
              <p:nvPr/>
            </p:nvSpPr>
            <p:spPr>
              <a:xfrm>
                <a:off x="2158408" y="2004622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I1601</a:t>
                </a:r>
                <a:endParaRPr lang="en-US"/>
              </a:p>
              <a:p>
                <a:pPr algn="ctr"/>
                <a:r>
                  <a:rPr lang="en-US" sz="1400" b="1">
                    <a:ea typeface="Calibri"/>
                    <a:cs typeface="Calibri"/>
                  </a:rPr>
                  <a:t>empty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7C0F8B2-6DDF-D557-D793-32798AD75F14}"/>
                  </a:ext>
                </a:extLst>
              </p:cNvPr>
              <p:cNvSpPr/>
              <p:nvPr/>
            </p:nvSpPr>
            <p:spPr>
              <a:xfrm>
                <a:off x="2158408" y="2979583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I2377</a:t>
                </a:r>
              </a:p>
              <a:p>
                <a:pPr algn="ctr"/>
                <a:r>
                  <a:rPr lang="en-US" sz="1400" b="1">
                    <a:ea typeface="Calibri"/>
                    <a:cs typeface="Calibri"/>
                  </a:rPr>
                  <a:t>Monarch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4BF6625-298D-F44E-6D6C-F449915B07C5}"/>
                  </a:ext>
                </a:extLst>
              </p:cNvPr>
              <p:cNvSpPr/>
              <p:nvPr/>
            </p:nvSpPr>
            <p:spPr>
              <a:xfrm>
                <a:off x="2158407" y="3950382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 dirty="0"/>
                  <a:t>INC-120</a:t>
                </a:r>
              </a:p>
              <a:p>
                <a:pPr algn="ctr"/>
                <a:r>
                  <a:rPr lang="en-US" b="1" dirty="0">
                    <a:ea typeface="Calibri"/>
                    <a:cs typeface="Calibri"/>
                  </a:rPr>
                  <a:t>OOO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58B615-D9D7-8BC8-E050-0001A2D11A6F}"/>
                  </a:ext>
                </a:extLst>
              </p:cNvPr>
              <p:cNvSpPr/>
              <p:nvPr/>
            </p:nvSpPr>
            <p:spPr>
              <a:xfrm>
                <a:off x="3735569" y="4067957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I1383</a:t>
                </a:r>
              </a:p>
              <a:p>
                <a:pPr algn="ctr"/>
                <a:r>
                  <a:rPr lang="en-US" sz="1400" b="1">
                    <a:ea typeface="Calibri"/>
                    <a:cs typeface="Calibri"/>
                  </a:rPr>
                  <a:t>PWA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296E086-587D-129E-21FD-9F9D55184689}"/>
                  </a:ext>
                </a:extLst>
              </p:cNvPr>
              <p:cNvSpPr/>
              <p:nvPr/>
            </p:nvSpPr>
            <p:spPr>
              <a:xfrm>
                <a:off x="3735570" y="3112491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INC-92</a:t>
                </a:r>
              </a:p>
              <a:p>
                <a:pPr algn="ctr"/>
                <a:r>
                  <a:rPr lang="en-US" sz="1400" b="1" err="1">
                    <a:ea typeface="Calibri"/>
                    <a:cs typeface="Calibri"/>
                  </a:rPr>
                  <a:t>Leps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EEA8966-8E1F-5707-92B1-17818B891AF7}"/>
                  </a:ext>
                </a:extLst>
              </p:cNvPr>
              <p:cNvSpPr/>
              <p:nvPr/>
            </p:nvSpPr>
            <p:spPr>
              <a:xfrm>
                <a:off x="3735571" y="2157025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INC-94</a:t>
                </a:r>
              </a:p>
              <a:p>
                <a:pPr algn="ctr"/>
                <a:r>
                  <a:rPr lang="en-US" sz="1400" b="1" err="1">
                    <a:ea typeface="Calibri"/>
                    <a:cs typeface="Calibri"/>
                  </a:rPr>
                  <a:t>Leps</a:t>
                </a:r>
                <a:endParaRPr lang="en-US" sz="1400" b="1">
                  <a:ea typeface="Calibri"/>
                  <a:cs typeface="Calibri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DD6E78E-F1EE-FEF9-8AAD-736990FE7169}"/>
                  </a:ext>
                </a:extLst>
              </p:cNvPr>
              <p:cNvSpPr/>
              <p:nvPr/>
            </p:nvSpPr>
            <p:spPr>
              <a:xfrm>
                <a:off x="3735572" y="1226290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INC-93</a:t>
                </a:r>
              </a:p>
              <a:p>
                <a:pPr algn="ctr"/>
                <a:r>
                  <a:rPr lang="en-US" sz="1400" b="1" err="1"/>
                  <a:t>Leps</a:t>
                </a:r>
                <a:endParaRPr lang="en-US" sz="1400" b="1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E6DD5E9-2F60-0ECE-2EAF-6E81D9B624AE}"/>
                  </a:ext>
                </a:extLst>
              </p:cNvPr>
              <p:cNvSpPr/>
              <p:nvPr/>
            </p:nvSpPr>
            <p:spPr>
              <a:xfrm>
                <a:off x="4820413" y="4058096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INC-90</a:t>
                </a:r>
              </a:p>
              <a:p>
                <a:pPr algn="ctr"/>
                <a:r>
                  <a:rPr lang="en-US" sz="1400" b="1">
                    <a:ea typeface="Calibri"/>
                    <a:cs typeface="Calibri"/>
                  </a:rPr>
                  <a:t>SCR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9A9078-E934-B115-F5D5-59AF4E7B0E86}"/>
                  </a:ext>
                </a:extLst>
              </p:cNvPr>
              <p:cNvSpPr/>
              <p:nvPr/>
            </p:nvSpPr>
            <p:spPr>
              <a:xfrm>
                <a:off x="4818845" y="3115344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INC-71</a:t>
                </a:r>
              </a:p>
              <a:p>
                <a:pPr algn="ctr"/>
                <a:r>
                  <a:rPr lang="en-US" sz="1400" b="1"/>
                  <a:t>GLW bioassay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1D7ED44-4183-6BFB-6B6C-D540EFE57E85}"/>
                  </a:ext>
                </a:extLst>
              </p:cNvPr>
              <p:cNvSpPr/>
              <p:nvPr/>
            </p:nvSpPr>
            <p:spPr>
              <a:xfrm>
                <a:off x="4820414" y="2157025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INC-63</a:t>
                </a:r>
              </a:p>
              <a:p>
                <a:pPr algn="ctr"/>
                <a:r>
                  <a:rPr lang="en-US" sz="1100" b="1" dirty="0" err="1">
                    <a:ea typeface="Calibri"/>
                    <a:cs typeface="Calibri"/>
                  </a:rPr>
                  <a:t>Leps</a:t>
                </a:r>
                <a:endParaRPr lang="en-US" dirty="0" err="1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D4222B3-DE95-A10E-B109-2EB6D9CCA426}"/>
                  </a:ext>
                </a:extLst>
              </p:cNvPr>
              <p:cNvSpPr/>
              <p:nvPr/>
            </p:nvSpPr>
            <p:spPr>
              <a:xfrm>
                <a:off x="4820415" y="1236154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I3413</a:t>
                </a:r>
              </a:p>
              <a:p>
                <a:pPr algn="ctr"/>
                <a:r>
                  <a:rPr lang="en-US" sz="1200" b="1"/>
                  <a:t>Rootworm Handling</a:t>
                </a:r>
                <a:endParaRPr lang="en-US" sz="1200" b="1">
                  <a:ea typeface="Calibri"/>
                  <a:cs typeface="Calibri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EF3925C-0C20-14A7-B4E5-8BB9808EBB7C}"/>
                  </a:ext>
                </a:extLst>
              </p:cNvPr>
              <p:cNvSpPr/>
              <p:nvPr/>
            </p:nvSpPr>
            <p:spPr>
              <a:xfrm>
                <a:off x="4951548" y="5735502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I1112</a:t>
                </a:r>
              </a:p>
              <a:p>
                <a:pPr algn="ctr"/>
                <a:r>
                  <a:rPr lang="en-US" sz="1400" b="1"/>
                  <a:t>Lep/</a:t>
                </a:r>
                <a:endParaRPr lang="en-US" sz="1400" b="1">
                  <a:ea typeface="Calibri"/>
                  <a:cs typeface="Calibri"/>
                </a:endParaRPr>
              </a:p>
              <a:p>
                <a:pPr algn="ctr"/>
                <a:r>
                  <a:rPr lang="en-US" sz="1400" b="1" err="1"/>
                  <a:t>rootwormreceiving</a:t>
                </a:r>
                <a:endParaRPr lang="en-US" sz="1400" b="1" err="1">
                  <a:ea typeface="Calibri"/>
                  <a:cs typeface="Calibri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0E76F4C-8FB6-BBE6-E828-FFF56160A32D}"/>
                  </a:ext>
                </a:extLst>
              </p:cNvPr>
              <p:cNvSpPr/>
              <p:nvPr/>
            </p:nvSpPr>
            <p:spPr>
              <a:xfrm>
                <a:off x="8880450" y="1226290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/>
                  <a:t>FRZ-248 </a:t>
                </a:r>
              </a:p>
              <a:p>
                <a:pPr algn="ctr"/>
                <a:r>
                  <a:rPr lang="en-US" sz="1400" b="1">
                    <a:ea typeface="Calibri"/>
                    <a:cs typeface="Calibri"/>
                  </a:rPr>
                  <a:t>Weekday Disposal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699DF1E-CE18-B910-BAAD-FA9776E41C89}"/>
                  </a:ext>
                </a:extLst>
              </p:cNvPr>
              <p:cNvSpPr/>
              <p:nvPr/>
            </p:nvSpPr>
            <p:spPr>
              <a:xfrm>
                <a:off x="8891572" y="2157025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F3212</a:t>
                </a:r>
                <a:endParaRPr lang="en-US" sz="1100"/>
              </a:p>
              <a:p>
                <a:pPr algn="ctr"/>
                <a:r>
                  <a:rPr lang="en-US" sz="1200" b="1"/>
                  <a:t>Weekday Disposal</a:t>
                </a:r>
                <a:endParaRPr lang="en-US" sz="1200">
                  <a:ea typeface="Calibri"/>
                  <a:cs typeface="Calibri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92F3066-7353-1634-FFB8-239D6C3CE0CB}"/>
                  </a:ext>
                </a:extLst>
              </p:cNvPr>
              <p:cNvSpPr/>
              <p:nvPr/>
            </p:nvSpPr>
            <p:spPr>
              <a:xfrm>
                <a:off x="8891572" y="3107560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2000" b="1"/>
                  <a:t>F3584</a:t>
                </a:r>
              </a:p>
              <a:p>
                <a:pPr algn="ctr"/>
                <a:r>
                  <a:rPr lang="en-US" sz="1400" b="1">
                    <a:ea typeface="Calibri"/>
                    <a:cs typeface="Calibri"/>
                  </a:rPr>
                  <a:t>Working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66C6FD5-9E54-6B7C-DAAD-DEB29F9D88F9}"/>
                  </a:ext>
                </a:extLst>
              </p:cNvPr>
              <p:cNvSpPr/>
              <p:nvPr/>
            </p:nvSpPr>
            <p:spPr>
              <a:xfrm>
                <a:off x="8891572" y="4058095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FRZ-220</a:t>
                </a:r>
              </a:p>
              <a:p>
                <a:pPr algn="ctr"/>
                <a:r>
                  <a:rPr lang="en-US" sz="1400" b="1"/>
                  <a:t>Working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C4E287D-F268-E890-426F-D9E6C9201A52}"/>
                  </a:ext>
                </a:extLst>
              </p:cNvPr>
              <p:cNvSpPr/>
              <p:nvPr/>
            </p:nvSpPr>
            <p:spPr>
              <a:xfrm>
                <a:off x="7039418" y="5719938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/>
                  <a:t>FRZ-353</a:t>
                </a:r>
              </a:p>
              <a:p>
                <a:pPr algn="ctr"/>
                <a:r>
                  <a:rPr lang="en-US" sz="1400" b="1">
                    <a:ea typeface="Calibri"/>
                    <a:cs typeface="Calibri"/>
                  </a:rPr>
                  <a:t>Buffer Freezer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A9AC92E-88C3-CAF0-FF0F-9355681437B0}"/>
                  </a:ext>
                </a:extLst>
              </p:cNvPr>
              <p:cNvSpPr/>
              <p:nvPr/>
            </p:nvSpPr>
            <p:spPr>
              <a:xfrm>
                <a:off x="5995483" y="5719938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FRZ-352</a:t>
                </a:r>
              </a:p>
              <a:p>
                <a:pPr algn="ctr"/>
                <a:r>
                  <a:rPr lang="en-US" sz="1400" b="1"/>
                  <a:t>PM freezer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640826-215D-74C1-8017-7AE636158DA9}"/>
                  </a:ext>
                </a:extLst>
              </p:cNvPr>
              <p:cNvSpPr/>
              <p:nvPr/>
            </p:nvSpPr>
            <p:spPr>
              <a:xfrm>
                <a:off x="8083353" y="5731423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/>
                  <a:t>INC-111</a:t>
                </a:r>
              </a:p>
              <a:p>
                <a:pPr algn="ctr"/>
                <a:r>
                  <a:rPr lang="en-US" sz="1400" b="1" err="1">
                    <a:ea typeface="Calibri"/>
                    <a:cs typeface="Calibri"/>
                  </a:rPr>
                  <a:t>Leps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AA9F022-A237-23C7-B6F5-2A4C78968856}"/>
                  </a:ext>
                </a:extLst>
              </p:cNvPr>
              <p:cNvSpPr/>
              <p:nvPr/>
            </p:nvSpPr>
            <p:spPr>
              <a:xfrm>
                <a:off x="9127288" y="5731423"/>
                <a:ext cx="1786174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R2192</a:t>
                </a:r>
              </a:p>
              <a:p>
                <a:pPr algn="ctr"/>
                <a:r>
                  <a:rPr lang="en-US" sz="1400" b="1"/>
                  <a:t>Buffers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ED86666-CB4A-5960-7696-A92CC12FD9FB}"/>
                  </a:ext>
                </a:extLst>
              </p:cNvPr>
              <p:cNvSpPr/>
              <p:nvPr/>
            </p:nvSpPr>
            <p:spPr>
              <a:xfrm>
                <a:off x="9945899" y="3328761"/>
                <a:ext cx="967563" cy="1611836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FRZ-343</a:t>
                </a:r>
              </a:p>
              <a:p>
                <a:pPr algn="ctr"/>
                <a:r>
                  <a:rPr lang="en-US" sz="1400" b="1"/>
                  <a:t>Chemicals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0DC2276-B7BB-2E1C-3109-A5E8F0BF40B5}"/>
                  </a:ext>
                </a:extLst>
              </p:cNvPr>
              <p:cNvSpPr/>
              <p:nvPr/>
            </p:nvSpPr>
            <p:spPr>
              <a:xfrm>
                <a:off x="9945899" y="2157025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/>
                  <a:t>FRZ-335</a:t>
                </a:r>
              </a:p>
              <a:p>
                <a:pPr algn="ctr"/>
                <a:r>
                  <a:rPr lang="en-US" sz="1400" b="1"/>
                  <a:t>Long-term storage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2691B8B-DB66-1C3C-524A-5BD04D594935}"/>
                  </a:ext>
                </a:extLst>
              </p:cNvPr>
              <p:cNvSpPr/>
              <p:nvPr/>
            </p:nvSpPr>
            <p:spPr>
              <a:xfrm>
                <a:off x="9945899" y="1236154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FRZ-342</a:t>
                </a:r>
              </a:p>
              <a:p>
                <a:pPr algn="ctr"/>
                <a:r>
                  <a:rPr lang="en-US" sz="1400" b="1"/>
                  <a:t>Working</a:t>
                </a:r>
              </a:p>
              <a:p>
                <a:pPr algn="ctr"/>
                <a:r>
                  <a:rPr lang="en-US" sz="1400" b="1"/>
                  <a:t>DC samples</a:t>
                </a:r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A9756B2-4460-6740-8548-12CFA92916F6}"/>
                </a:ext>
              </a:extLst>
            </p:cNvPr>
            <p:cNvSpPr/>
            <p:nvPr/>
          </p:nvSpPr>
          <p:spPr>
            <a:xfrm>
              <a:off x="3735568" y="277835"/>
              <a:ext cx="967563" cy="88250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/>
                <a:t>INC-84</a:t>
              </a:r>
            </a:p>
            <a:p>
              <a:pPr algn="ctr"/>
              <a:r>
                <a:rPr lang="en-US" sz="1600" b="1" err="1">
                  <a:ea typeface="Calibri" panose="020F0502020204030204"/>
                  <a:cs typeface="Calibri" panose="020F0502020204030204"/>
                </a:rPr>
                <a:t>Leps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AD40775-5C9D-4E77-1026-C29CE507A933}"/>
                </a:ext>
              </a:extLst>
            </p:cNvPr>
            <p:cNvSpPr/>
            <p:nvPr/>
          </p:nvSpPr>
          <p:spPr>
            <a:xfrm>
              <a:off x="4820416" y="277835"/>
              <a:ext cx="967563" cy="88250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2000" b="1"/>
                <a:t>I3213</a:t>
              </a:r>
            </a:p>
            <a:p>
              <a:pPr algn="ctr"/>
              <a:r>
                <a:rPr lang="en-US" sz="1200" b="1"/>
                <a:t>NBSB rearing and handling</a:t>
              </a:r>
              <a:endParaRPr lang="en-US" sz="1200" b="1">
                <a:ea typeface="Calibri"/>
                <a:cs typeface="Calibri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43B9D1-CAB3-EC27-AAC8-B7E52293E466}"/>
                </a:ext>
              </a:extLst>
            </p:cNvPr>
            <p:cNvSpPr/>
            <p:nvPr/>
          </p:nvSpPr>
          <p:spPr>
            <a:xfrm>
              <a:off x="8880451" y="255181"/>
              <a:ext cx="967563" cy="92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pPr algn="ctr"/>
              <a:r>
                <a:rPr lang="en-US" sz="1200" b="1"/>
                <a:t>INC-112</a:t>
              </a:r>
              <a:endParaRPr lang="en-US" sz="1200" b="1">
                <a:ea typeface="Calibri" panose="020F0502020204030204"/>
                <a:cs typeface="Calibri" panose="020F0502020204030204"/>
              </a:endParaRPr>
            </a:p>
            <a:p>
              <a:pPr algn="ctr"/>
              <a:r>
                <a:rPr lang="en-US" sz="1200" b="1">
                  <a:ea typeface="Calibri" panose="020F0502020204030204"/>
                  <a:cs typeface="Calibri" panose="020F0502020204030204"/>
                </a:rPr>
                <a:t>WCR</a:t>
              </a:r>
            </a:p>
            <a:p>
              <a:pPr algn="ctr"/>
              <a:r>
                <a:rPr lang="en-US" sz="1200" b="1"/>
                <a:t>INC-113</a:t>
              </a:r>
              <a:endParaRPr lang="en-US" sz="1200" b="1">
                <a:ea typeface="Calibri" panose="020F0502020204030204"/>
                <a:cs typeface="Calibri" panose="020F0502020204030204"/>
              </a:endParaRPr>
            </a:p>
            <a:p>
              <a:pPr algn="ctr"/>
              <a:r>
                <a:rPr lang="en-US" sz="1050" b="1">
                  <a:ea typeface="Calibri" panose="020F0502020204030204"/>
                  <a:cs typeface="Calibri" panose="020F0502020204030204"/>
                </a:rPr>
                <a:t>WTP, CPB, MBB Storage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85C2BB3-B84A-BB26-BE23-025909013565}"/>
                </a:ext>
              </a:extLst>
            </p:cNvPr>
            <p:cNvSpPr/>
            <p:nvPr/>
          </p:nvSpPr>
          <p:spPr>
            <a:xfrm>
              <a:off x="9945899" y="249524"/>
              <a:ext cx="967563" cy="88250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FRZ-365</a:t>
              </a:r>
            </a:p>
            <a:p>
              <a:pPr algn="ctr"/>
              <a:r>
                <a:rPr lang="en-US" b="1">
                  <a:ea typeface="Calibri"/>
                  <a:cs typeface="Calibri"/>
                </a:rPr>
                <a:t>working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9341692-A0E9-7DF8-CFD1-BA0F3EB1764C}"/>
                </a:ext>
              </a:extLst>
            </p:cNvPr>
            <p:cNvSpPr/>
            <p:nvPr/>
          </p:nvSpPr>
          <p:spPr>
            <a:xfrm>
              <a:off x="6132359" y="3326"/>
              <a:ext cx="769090" cy="3338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0674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4C6670C2-6983-0E32-569A-75269FF554A8}"/>
              </a:ext>
            </a:extLst>
          </p:cNvPr>
          <p:cNvGrpSpPr/>
          <p:nvPr/>
        </p:nvGrpSpPr>
        <p:grpSpPr>
          <a:xfrm>
            <a:off x="1780622" y="-5317"/>
            <a:ext cx="8994617" cy="6841670"/>
            <a:chOff x="1918845" y="0"/>
            <a:chExt cx="8994617" cy="684167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8BD5F2C-BFC7-F053-8111-2D45F1484777}"/>
                </a:ext>
              </a:extLst>
            </p:cNvPr>
            <p:cNvGrpSpPr/>
            <p:nvPr/>
          </p:nvGrpSpPr>
          <p:grpSpPr>
            <a:xfrm>
              <a:off x="1918845" y="0"/>
              <a:ext cx="8994617" cy="6841670"/>
              <a:chOff x="1918845" y="0"/>
              <a:chExt cx="8994617" cy="684167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FDA98C25-222B-0FAA-9065-5B4A2CF2314F}"/>
                  </a:ext>
                </a:extLst>
              </p:cNvPr>
              <p:cNvGrpSpPr/>
              <p:nvPr/>
            </p:nvGrpSpPr>
            <p:grpSpPr>
              <a:xfrm>
                <a:off x="1918845" y="0"/>
                <a:ext cx="8354310" cy="6841670"/>
                <a:chOff x="1918845" y="0"/>
                <a:chExt cx="8354310" cy="6841670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C0355864-B619-A901-ECA7-43B1A1364A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5201"/>
                <a:stretch/>
              </p:blipFill>
              <p:spPr>
                <a:xfrm rot="10800000">
                  <a:off x="1918845" y="0"/>
                  <a:ext cx="8354310" cy="6841670"/>
                </a:xfrm>
                <a:prstGeom prst="rect">
                  <a:avLst/>
                </a:prstGeom>
              </p:spPr>
            </p:pic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8ED2142-693A-E81F-8BF7-454D50E80555}"/>
                    </a:ext>
                  </a:extLst>
                </p:cNvPr>
                <p:cNvSpPr/>
                <p:nvPr/>
              </p:nvSpPr>
              <p:spPr>
                <a:xfrm>
                  <a:off x="7644809" y="3157870"/>
                  <a:ext cx="1350335" cy="37213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/>
                </a:p>
              </p:txBody>
            </p: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C6406ED-8500-A7D8-C981-1BD42C017573}"/>
                  </a:ext>
                </a:extLst>
              </p:cNvPr>
              <p:cNvSpPr/>
              <p:nvPr/>
            </p:nvSpPr>
            <p:spPr>
              <a:xfrm>
                <a:off x="2158409" y="1063257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/>
                  <a:t>I840</a:t>
                </a:r>
              </a:p>
              <a:p>
                <a:pPr algn="ctr"/>
                <a:r>
                  <a:rPr lang="en-US" b="1">
                    <a:cs typeface="Calibri"/>
                  </a:rPr>
                  <a:t>GLW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3CF4DB1-5A1E-DC5D-B5E9-96E71D927BEC}"/>
                  </a:ext>
                </a:extLst>
              </p:cNvPr>
              <p:cNvSpPr/>
              <p:nvPr/>
            </p:nvSpPr>
            <p:spPr>
              <a:xfrm>
                <a:off x="2158408" y="2004622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/>
                  <a:t>I1601</a:t>
                </a:r>
              </a:p>
              <a:p>
                <a:pPr algn="ctr"/>
                <a:r>
                  <a:rPr lang="en-US" sz="1400" b="1"/>
                  <a:t>WCR/SCR Rearing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7C0F8B2-6DDF-D557-D793-32798AD75F14}"/>
                  </a:ext>
                </a:extLst>
              </p:cNvPr>
              <p:cNvSpPr/>
              <p:nvPr/>
            </p:nvSpPr>
            <p:spPr>
              <a:xfrm>
                <a:off x="2158408" y="2979583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I2377</a:t>
                </a:r>
              </a:p>
              <a:p>
                <a:pPr algn="ctr"/>
                <a:r>
                  <a:rPr lang="en-US" b="1"/>
                  <a:t>BEB rearing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4BF6625-298D-F44E-6D6C-F449915B07C5}"/>
                  </a:ext>
                </a:extLst>
              </p:cNvPr>
              <p:cNvSpPr/>
              <p:nvPr/>
            </p:nvSpPr>
            <p:spPr>
              <a:xfrm>
                <a:off x="2158407" y="3950382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I2378</a:t>
                </a:r>
              </a:p>
              <a:p>
                <a:pPr algn="ctr"/>
                <a:r>
                  <a:rPr lang="en-US" b="1"/>
                  <a:t>OOO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58B615-D9D7-8BC8-E050-0001A2D11A6F}"/>
                  </a:ext>
                </a:extLst>
              </p:cNvPr>
              <p:cNvSpPr/>
              <p:nvPr/>
            </p:nvSpPr>
            <p:spPr>
              <a:xfrm>
                <a:off x="3735569" y="4067957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b="1"/>
                  <a:t>I1383</a:t>
                </a:r>
              </a:p>
              <a:p>
                <a:pPr algn="ctr"/>
                <a:r>
                  <a:rPr lang="en-US" sz="1200" b="1"/>
                  <a:t>Corn Roots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296E086-587D-129E-21FD-9F9D55184689}"/>
                  </a:ext>
                </a:extLst>
              </p:cNvPr>
              <p:cNvSpPr/>
              <p:nvPr/>
            </p:nvSpPr>
            <p:spPr>
              <a:xfrm>
                <a:off x="3735570" y="3112491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INC-92</a:t>
                </a:r>
              </a:p>
              <a:p>
                <a:pPr algn="ctr"/>
                <a:r>
                  <a:rPr lang="en-US" b="1" err="1"/>
                  <a:t>Leps</a:t>
                </a:r>
                <a:endParaRPr lang="en-US" b="1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EEA8966-8E1F-5707-92B1-17818B891AF7}"/>
                  </a:ext>
                </a:extLst>
              </p:cNvPr>
              <p:cNvSpPr/>
              <p:nvPr/>
            </p:nvSpPr>
            <p:spPr>
              <a:xfrm>
                <a:off x="3735571" y="2157025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INC-94</a:t>
                </a:r>
              </a:p>
              <a:p>
                <a:pPr algn="ctr"/>
                <a:r>
                  <a:rPr lang="en-US" sz="2400" b="1"/>
                  <a:t>CFF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DD6E78E-F1EE-FEF9-8AAD-736990FE7169}"/>
                  </a:ext>
                </a:extLst>
              </p:cNvPr>
              <p:cNvSpPr/>
              <p:nvPr/>
            </p:nvSpPr>
            <p:spPr>
              <a:xfrm>
                <a:off x="3735572" y="1226290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INC-93</a:t>
                </a:r>
              </a:p>
              <a:p>
                <a:pPr algn="ctr"/>
                <a:r>
                  <a:rPr lang="en-US" b="1"/>
                  <a:t>MBB assays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E6DD5E9-2F60-0ECE-2EAF-6E81D9B624AE}"/>
                  </a:ext>
                </a:extLst>
              </p:cNvPr>
              <p:cNvSpPr/>
              <p:nvPr/>
            </p:nvSpPr>
            <p:spPr>
              <a:xfrm>
                <a:off x="4820413" y="4058096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INC-90</a:t>
                </a:r>
              </a:p>
              <a:p>
                <a:pPr algn="ctr"/>
                <a:r>
                  <a:rPr lang="en-US" b="1"/>
                  <a:t>SCR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A9A9078-E934-B115-F5D5-59AF4E7B0E86}"/>
                  </a:ext>
                </a:extLst>
              </p:cNvPr>
              <p:cNvSpPr/>
              <p:nvPr/>
            </p:nvSpPr>
            <p:spPr>
              <a:xfrm>
                <a:off x="4818845" y="3115344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INC-71</a:t>
                </a:r>
              </a:p>
              <a:p>
                <a:pPr algn="ctr"/>
                <a:r>
                  <a:rPr lang="en-US" b="1"/>
                  <a:t>NBS Assay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1D7ED44-4183-6BFB-6B6C-D540EFE57E85}"/>
                  </a:ext>
                </a:extLst>
              </p:cNvPr>
              <p:cNvSpPr/>
              <p:nvPr/>
            </p:nvSpPr>
            <p:spPr>
              <a:xfrm>
                <a:off x="4820414" y="2157025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INC-63</a:t>
                </a:r>
              </a:p>
              <a:p>
                <a:pPr algn="ctr"/>
                <a:r>
                  <a:rPr lang="en-US" sz="1200" b="1"/>
                  <a:t>NBSB Rearing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D4222B3-DE95-A10E-B109-2EB6D9CCA426}"/>
                  </a:ext>
                </a:extLst>
              </p:cNvPr>
              <p:cNvSpPr/>
              <p:nvPr/>
            </p:nvSpPr>
            <p:spPr>
              <a:xfrm>
                <a:off x="4820415" y="1236154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I3413</a:t>
                </a:r>
              </a:p>
              <a:p>
                <a:pPr algn="ctr"/>
                <a:r>
                  <a:rPr lang="en-US" sz="1600" b="1"/>
                  <a:t>Pollen Germ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8EF3925C-0C20-14A7-B4E5-8BB9808EBB7C}"/>
                  </a:ext>
                </a:extLst>
              </p:cNvPr>
              <p:cNvSpPr/>
              <p:nvPr/>
            </p:nvSpPr>
            <p:spPr>
              <a:xfrm>
                <a:off x="4951548" y="5735502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/>
                  <a:t>I1112</a:t>
                </a:r>
              </a:p>
              <a:p>
                <a:pPr algn="ctr"/>
                <a:r>
                  <a:rPr lang="en-US" sz="1600" b="1" err="1"/>
                  <a:t>Lep</a:t>
                </a:r>
                <a:r>
                  <a:rPr lang="en-US" sz="1600" b="1"/>
                  <a:t>/rootworm receiving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0E76F4C-8FB6-BBE6-E828-FFF56160A32D}"/>
                  </a:ext>
                </a:extLst>
              </p:cNvPr>
              <p:cNvSpPr/>
              <p:nvPr/>
            </p:nvSpPr>
            <p:spPr>
              <a:xfrm>
                <a:off x="8880450" y="1226290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FRZ-248 </a:t>
                </a:r>
              </a:p>
              <a:p>
                <a:pPr algn="ctr"/>
                <a:r>
                  <a:rPr lang="en-US" b="1"/>
                  <a:t>Elsa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699DF1E-CE18-B910-BAAD-FA9776E41C89}"/>
                  </a:ext>
                </a:extLst>
              </p:cNvPr>
              <p:cNvSpPr/>
              <p:nvPr/>
            </p:nvSpPr>
            <p:spPr>
              <a:xfrm>
                <a:off x="8891572" y="2157025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F3212</a:t>
                </a:r>
              </a:p>
              <a:p>
                <a:pPr algn="ctr"/>
                <a:r>
                  <a:rPr lang="en-US" b="1"/>
                  <a:t>Anna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92F3066-7353-1634-FFB8-239D6C3CE0CB}"/>
                  </a:ext>
                </a:extLst>
              </p:cNvPr>
              <p:cNvSpPr/>
              <p:nvPr/>
            </p:nvSpPr>
            <p:spPr>
              <a:xfrm>
                <a:off x="8891572" y="3107560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F3584</a:t>
                </a:r>
              </a:p>
              <a:p>
                <a:pPr algn="ctr"/>
                <a:r>
                  <a:rPr lang="en-US" b="1"/>
                  <a:t>working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66C6FD5-9E54-6B7C-DAAD-DEB29F9D88F9}"/>
                  </a:ext>
                </a:extLst>
              </p:cNvPr>
              <p:cNvSpPr/>
              <p:nvPr/>
            </p:nvSpPr>
            <p:spPr>
              <a:xfrm>
                <a:off x="8891572" y="4058095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FRZ-220</a:t>
                </a:r>
              </a:p>
              <a:p>
                <a:pPr algn="ctr"/>
                <a:r>
                  <a:rPr lang="en-US" b="1"/>
                  <a:t>working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C4E287D-F268-E890-426F-D9E6C9201A52}"/>
                  </a:ext>
                </a:extLst>
              </p:cNvPr>
              <p:cNvSpPr/>
              <p:nvPr/>
            </p:nvSpPr>
            <p:spPr>
              <a:xfrm>
                <a:off x="7039418" y="5719938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FRZ-353</a:t>
                </a:r>
              </a:p>
              <a:p>
                <a:pPr algn="ctr"/>
                <a:r>
                  <a:rPr lang="en-US" b="1"/>
                  <a:t>Buffer/working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A9AC92E-88C3-CAF0-FF0F-9355681437B0}"/>
                  </a:ext>
                </a:extLst>
              </p:cNvPr>
              <p:cNvSpPr/>
              <p:nvPr/>
            </p:nvSpPr>
            <p:spPr>
              <a:xfrm>
                <a:off x="5995483" y="5719938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FRZ-352</a:t>
                </a:r>
              </a:p>
              <a:p>
                <a:pPr algn="ctr"/>
                <a:r>
                  <a:rPr lang="en-US" b="1"/>
                  <a:t>PM freezer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640826-215D-74C1-8017-7AE636158DA9}"/>
                  </a:ext>
                </a:extLst>
              </p:cNvPr>
              <p:cNvSpPr/>
              <p:nvPr/>
            </p:nvSpPr>
            <p:spPr>
              <a:xfrm>
                <a:off x="8083353" y="5731423"/>
                <a:ext cx="967563" cy="882502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INC-111</a:t>
                </a:r>
              </a:p>
              <a:p>
                <a:pPr algn="ctr"/>
                <a:r>
                  <a:rPr lang="en-US" b="1"/>
                  <a:t>Corn Rolls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AA9F022-A237-23C7-B6F5-2A4C78968856}"/>
                  </a:ext>
                </a:extLst>
              </p:cNvPr>
              <p:cNvSpPr/>
              <p:nvPr/>
            </p:nvSpPr>
            <p:spPr>
              <a:xfrm>
                <a:off x="9127288" y="5731423"/>
                <a:ext cx="1786174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R2192</a:t>
                </a:r>
              </a:p>
              <a:p>
                <a:pPr algn="ctr"/>
                <a:r>
                  <a:rPr lang="en-US" b="1"/>
                  <a:t>Buffers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ED86666-CB4A-5960-7696-A92CC12FD9FB}"/>
                  </a:ext>
                </a:extLst>
              </p:cNvPr>
              <p:cNvSpPr/>
              <p:nvPr/>
            </p:nvSpPr>
            <p:spPr>
              <a:xfrm>
                <a:off x="9945899" y="3328761"/>
                <a:ext cx="967563" cy="1611836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/>
                  <a:t>FRZ-343</a:t>
                </a:r>
              </a:p>
              <a:p>
                <a:pPr algn="ctr"/>
                <a:r>
                  <a:rPr lang="en-US" sz="1400" b="1"/>
                  <a:t>chemicals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0DC2276-B7BB-2E1C-3109-A5E8F0BF40B5}"/>
                  </a:ext>
                </a:extLst>
              </p:cNvPr>
              <p:cNvSpPr/>
              <p:nvPr/>
            </p:nvSpPr>
            <p:spPr>
              <a:xfrm>
                <a:off x="9945899" y="2157025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FRZ-335</a:t>
                </a:r>
              </a:p>
              <a:p>
                <a:pPr algn="ctr"/>
                <a:r>
                  <a:rPr lang="en-US" b="1"/>
                  <a:t>Long-term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2691B8B-DB66-1C3C-524A-5BD04D594935}"/>
                  </a:ext>
                </a:extLst>
              </p:cNvPr>
              <p:cNvSpPr/>
              <p:nvPr/>
            </p:nvSpPr>
            <p:spPr>
              <a:xfrm>
                <a:off x="9945899" y="1236154"/>
                <a:ext cx="967563" cy="882502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/>
                  <a:t>FRZ-342</a:t>
                </a:r>
              </a:p>
              <a:p>
                <a:pPr algn="ctr"/>
                <a:r>
                  <a:rPr lang="en-US" b="1" err="1"/>
                  <a:t>workingDC</a:t>
                </a:r>
                <a:endParaRPr lang="en-US" b="1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A9756B2-4460-6740-8548-12CFA92916F6}"/>
                </a:ext>
              </a:extLst>
            </p:cNvPr>
            <p:cNvSpPr/>
            <p:nvPr/>
          </p:nvSpPr>
          <p:spPr>
            <a:xfrm>
              <a:off x="3735568" y="277835"/>
              <a:ext cx="967563" cy="88250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INC-84</a:t>
              </a:r>
            </a:p>
            <a:p>
              <a:pPr algn="ctr"/>
              <a:r>
                <a:rPr lang="en-US" b="1" err="1"/>
                <a:t>Leps</a:t>
              </a:r>
              <a:endParaRPr lang="en-US" b="1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AD40775-5C9D-4E77-1026-C29CE507A933}"/>
                </a:ext>
              </a:extLst>
            </p:cNvPr>
            <p:cNvSpPr/>
            <p:nvPr/>
          </p:nvSpPr>
          <p:spPr>
            <a:xfrm>
              <a:off x="4820416" y="277835"/>
              <a:ext cx="967563" cy="88250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I3213</a:t>
              </a:r>
            </a:p>
            <a:p>
              <a:pPr algn="ctr"/>
              <a:r>
                <a:rPr lang="en-US" sz="1600" b="1"/>
                <a:t>WCR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43B9D1-CAB3-EC27-AAC8-B7E52293E466}"/>
                </a:ext>
              </a:extLst>
            </p:cNvPr>
            <p:cNvSpPr/>
            <p:nvPr/>
          </p:nvSpPr>
          <p:spPr>
            <a:xfrm>
              <a:off x="8880451" y="255182"/>
              <a:ext cx="967563" cy="88250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/>
                <a:t>INC-112</a:t>
              </a:r>
            </a:p>
            <a:p>
              <a:pPr algn="ctr"/>
              <a:r>
                <a:rPr lang="en-US" sz="1200" b="1"/>
                <a:t>Monarch</a:t>
              </a:r>
            </a:p>
            <a:p>
              <a:pPr algn="ctr"/>
              <a:r>
                <a:rPr lang="en-US" sz="1200" b="1"/>
                <a:t>INC-113</a:t>
              </a:r>
            </a:p>
            <a:p>
              <a:pPr algn="ctr"/>
              <a:r>
                <a:rPr lang="en-US" sz="1200" b="1"/>
                <a:t>Cold storage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85C2BB3-B84A-BB26-BE23-025909013565}"/>
                </a:ext>
              </a:extLst>
            </p:cNvPr>
            <p:cNvSpPr/>
            <p:nvPr/>
          </p:nvSpPr>
          <p:spPr>
            <a:xfrm>
              <a:off x="9945899" y="249524"/>
              <a:ext cx="967563" cy="88250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b="1"/>
                <a:t>FRZ-365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9341692-A0E9-7DF8-CFD1-BA0F3EB1764C}"/>
                </a:ext>
              </a:extLst>
            </p:cNvPr>
            <p:cNvSpPr/>
            <p:nvPr/>
          </p:nvSpPr>
          <p:spPr>
            <a:xfrm>
              <a:off x="6654873" y="133955"/>
              <a:ext cx="769090" cy="3338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4869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E75E0B3-C8E2-9731-2CFE-40E0E10C37D1}"/>
              </a:ext>
            </a:extLst>
          </p:cNvPr>
          <p:cNvGrpSpPr/>
          <p:nvPr/>
        </p:nvGrpSpPr>
        <p:grpSpPr>
          <a:xfrm>
            <a:off x="111497" y="66736"/>
            <a:ext cx="11969006" cy="6724527"/>
            <a:chOff x="111497" y="66736"/>
            <a:chExt cx="11969006" cy="672452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E02B156-E78A-242D-2575-7D0011F4A078}"/>
                </a:ext>
              </a:extLst>
            </p:cNvPr>
            <p:cNvGrpSpPr/>
            <p:nvPr/>
          </p:nvGrpSpPr>
          <p:grpSpPr>
            <a:xfrm>
              <a:off x="111497" y="66736"/>
              <a:ext cx="11969006" cy="6724527"/>
              <a:chOff x="111497" y="66736"/>
              <a:chExt cx="11969006" cy="6724527"/>
            </a:xfrm>
          </p:grpSpPr>
          <p:pic>
            <p:nvPicPr>
              <p:cNvPr id="4" name="Picture 4" descr="Diagram&#10;&#10;Description automatically generated">
                <a:extLst>
                  <a:ext uri="{FF2B5EF4-FFF2-40B4-BE49-F238E27FC236}">
                    <a16:creationId xmlns:a16="http://schemas.microsoft.com/office/drawing/2014/main" id="{10170765-1BB4-8BB8-DE8A-2FDF33DDE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930" y="66736"/>
                <a:ext cx="11946573" cy="6724527"/>
              </a:xfrm>
              <a:prstGeom prst="rect">
                <a:avLst/>
              </a:prstGeom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F7ABC97-CFF9-4A8E-8626-ADB6B559630F}"/>
                  </a:ext>
                </a:extLst>
              </p:cNvPr>
              <p:cNvSpPr/>
              <p:nvPr/>
            </p:nvSpPr>
            <p:spPr>
              <a:xfrm>
                <a:off x="111497" y="66736"/>
                <a:ext cx="7102763" cy="320501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8ECA0C-1345-9FD9-356B-1C332792C208}"/>
                  </a:ext>
                </a:extLst>
              </p:cNvPr>
              <p:cNvSpPr txBox="1"/>
              <p:nvPr/>
            </p:nvSpPr>
            <p:spPr>
              <a:xfrm>
                <a:off x="6264348" y="5440325"/>
                <a:ext cx="86832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100">
                    <a:cs typeface="Calibri"/>
                  </a:rPr>
                  <a:t>Washroom</a:t>
                </a:r>
                <a:endParaRPr lang="en-US" sz="110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B28E26-5542-52E7-570C-0C3B3FC88060}"/>
                  </a:ext>
                </a:extLst>
              </p:cNvPr>
              <p:cNvSpPr txBox="1"/>
              <p:nvPr/>
            </p:nvSpPr>
            <p:spPr>
              <a:xfrm>
                <a:off x="11013557" y="5271976"/>
                <a:ext cx="868324" cy="2616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endParaRPr lang="en-US" sz="11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EFD5DEE-44E9-1E56-111A-2194082D9F15}"/>
                  </a:ext>
                </a:extLst>
              </p:cNvPr>
              <p:cNvSpPr/>
              <p:nvPr/>
            </p:nvSpPr>
            <p:spPr>
              <a:xfrm>
                <a:off x="4015511" y="3724513"/>
                <a:ext cx="380999" cy="312501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26</a:t>
                </a:r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7BCC3F-AB46-11A6-E100-86853B0CB9FE}"/>
                  </a:ext>
                </a:extLst>
              </p:cNvPr>
              <p:cNvSpPr/>
              <p:nvPr/>
            </p:nvSpPr>
            <p:spPr>
              <a:xfrm>
                <a:off x="3605210" y="3724512"/>
                <a:ext cx="380999" cy="312501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27</a:t>
                </a:r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9608B2-2D33-6581-81D4-AE92F4D086D7}"/>
                  </a:ext>
                </a:extLst>
              </p:cNvPr>
              <p:cNvSpPr/>
              <p:nvPr/>
            </p:nvSpPr>
            <p:spPr>
              <a:xfrm>
                <a:off x="3194910" y="3724512"/>
                <a:ext cx="380999" cy="310481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28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67C4E9C-B8F9-46C3-A66E-391D61CA39C7}"/>
                </a:ext>
              </a:extLst>
            </p:cNvPr>
            <p:cNvGrpSpPr/>
            <p:nvPr/>
          </p:nvGrpSpPr>
          <p:grpSpPr>
            <a:xfrm>
              <a:off x="2747818" y="2592885"/>
              <a:ext cx="8448590" cy="3983729"/>
              <a:chOff x="2747818" y="2592885"/>
              <a:chExt cx="8448590" cy="398372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E33D3CC-DCCE-4229-8A96-DD76AE9BF3B7}"/>
                  </a:ext>
                </a:extLst>
              </p:cNvPr>
              <p:cNvSpPr/>
              <p:nvPr/>
            </p:nvSpPr>
            <p:spPr>
              <a:xfrm>
                <a:off x="5018806" y="4703394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0A93E856-9D64-49E2-A371-6FAB677320D7}"/>
                  </a:ext>
                </a:extLst>
              </p:cNvPr>
              <p:cNvSpPr/>
              <p:nvPr/>
            </p:nvSpPr>
            <p:spPr>
              <a:xfrm>
                <a:off x="5702796" y="5666738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A0A235C-CED0-4936-B0E0-98ACDD816C6A}"/>
                  </a:ext>
                </a:extLst>
              </p:cNvPr>
              <p:cNvSpPr/>
              <p:nvPr/>
            </p:nvSpPr>
            <p:spPr>
              <a:xfrm>
                <a:off x="5695868" y="5193144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FF49CC7A-F1C5-48A1-8E74-8C3C35E7913F}"/>
                  </a:ext>
                </a:extLst>
              </p:cNvPr>
              <p:cNvSpPr/>
              <p:nvPr/>
            </p:nvSpPr>
            <p:spPr>
              <a:xfrm>
                <a:off x="5700486" y="4712854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3AE9284-5F0D-417C-9AF6-C337A3453243}"/>
                  </a:ext>
                </a:extLst>
              </p:cNvPr>
              <p:cNvSpPr/>
              <p:nvPr/>
            </p:nvSpPr>
            <p:spPr>
              <a:xfrm>
                <a:off x="5695868" y="4225638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75081EC-FC28-4A37-904F-1AFA7447E169}"/>
                  </a:ext>
                </a:extLst>
              </p:cNvPr>
              <p:cNvSpPr/>
              <p:nvPr/>
            </p:nvSpPr>
            <p:spPr>
              <a:xfrm>
                <a:off x="5023095" y="5172366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4E27D76-3CC8-4B72-A182-688257208F60}"/>
                  </a:ext>
                </a:extLst>
              </p:cNvPr>
              <p:cNvSpPr/>
              <p:nvPr/>
            </p:nvSpPr>
            <p:spPr>
              <a:xfrm>
                <a:off x="5018807" y="5641338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76D078A-CAA0-47E3-8A43-D0544F81A6D4}"/>
                  </a:ext>
                </a:extLst>
              </p:cNvPr>
              <p:cNvSpPr/>
              <p:nvPr/>
            </p:nvSpPr>
            <p:spPr>
              <a:xfrm>
                <a:off x="5018807" y="6110310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9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6E2B4E4-BD4B-4795-BB7B-578E63C30390}"/>
                  </a:ext>
                </a:extLst>
              </p:cNvPr>
              <p:cNvSpPr/>
              <p:nvPr/>
            </p:nvSpPr>
            <p:spPr>
              <a:xfrm>
                <a:off x="5018805" y="4225637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B6CD3FA-4CE4-4D88-9B59-FC2F1A2C0A13}"/>
                  </a:ext>
                </a:extLst>
              </p:cNvPr>
              <p:cNvSpPr/>
              <p:nvPr/>
            </p:nvSpPr>
            <p:spPr>
              <a:xfrm>
                <a:off x="4588492" y="4231297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10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9157034-56A5-41BF-91FF-46B9FF9154E2}"/>
                  </a:ext>
                </a:extLst>
              </p:cNvPr>
              <p:cNvSpPr/>
              <p:nvPr/>
            </p:nvSpPr>
            <p:spPr>
              <a:xfrm>
                <a:off x="4584196" y="4698777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11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DCFE5B8-5CC1-44A8-B31F-92C2E0B3237E}"/>
                  </a:ext>
                </a:extLst>
              </p:cNvPr>
              <p:cNvSpPr/>
              <p:nvPr/>
            </p:nvSpPr>
            <p:spPr>
              <a:xfrm>
                <a:off x="4601184" y="6110310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14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EC7D6B0-E43F-45A1-A372-CA32C4AB3D3C}"/>
                  </a:ext>
                </a:extLst>
              </p:cNvPr>
              <p:cNvSpPr/>
              <p:nvPr/>
            </p:nvSpPr>
            <p:spPr>
              <a:xfrm>
                <a:off x="4596239" y="5166257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AB2346C-53F8-4769-8D7E-1B042454ADA4}"/>
                  </a:ext>
                </a:extLst>
              </p:cNvPr>
              <p:cNvSpPr/>
              <p:nvPr/>
            </p:nvSpPr>
            <p:spPr>
              <a:xfrm>
                <a:off x="4590962" y="5633737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667C95D-7B32-44DA-B59C-FD02BC4327A7}"/>
                  </a:ext>
                </a:extLst>
              </p:cNvPr>
              <p:cNvSpPr/>
              <p:nvPr/>
            </p:nvSpPr>
            <p:spPr>
              <a:xfrm>
                <a:off x="3634836" y="5193143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17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7C7A91EC-73A0-44D0-8B4D-1776970FEF66}"/>
                  </a:ext>
                </a:extLst>
              </p:cNvPr>
              <p:cNvSpPr/>
              <p:nvPr/>
            </p:nvSpPr>
            <p:spPr>
              <a:xfrm>
                <a:off x="3634837" y="4709055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16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1378CCC-3A04-4098-BD49-49657D98738A}"/>
                  </a:ext>
                </a:extLst>
              </p:cNvPr>
              <p:cNvSpPr/>
              <p:nvPr/>
            </p:nvSpPr>
            <p:spPr>
              <a:xfrm>
                <a:off x="3634838" y="4251663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15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B5EFC07-ABC6-41A9-8A87-98AFFE39D942}"/>
                  </a:ext>
                </a:extLst>
              </p:cNvPr>
              <p:cNvSpPr/>
              <p:nvPr/>
            </p:nvSpPr>
            <p:spPr>
              <a:xfrm>
                <a:off x="3634836" y="5666737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18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A55BEE41-899D-4545-8D2B-0D796257F9CA}"/>
                  </a:ext>
                </a:extLst>
              </p:cNvPr>
              <p:cNvSpPr/>
              <p:nvPr/>
            </p:nvSpPr>
            <p:spPr>
              <a:xfrm>
                <a:off x="4410684" y="3726533"/>
                <a:ext cx="380999" cy="310481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25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7582982-EB82-4DDA-A2AB-21A37664FF4C}"/>
                  </a:ext>
                </a:extLst>
              </p:cNvPr>
              <p:cNvSpPr/>
              <p:nvPr/>
            </p:nvSpPr>
            <p:spPr>
              <a:xfrm>
                <a:off x="2747818" y="3724513"/>
                <a:ext cx="380999" cy="312501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29</a:t>
                </a:r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2AD10B2-DBFB-4499-AC29-37405A4D838A}"/>
                  </a:ext>
                </a:extLst>
              </p:cNvPr>
              <p:cNvSpPr/>
              <p:nvPr/>
            </p:nvSpPr>
            <p:spPr>
              <a:xfrm>
                <a:off x="3634835" y="6133269"/>
                <a:ext cx="380999" cy="443345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>
                    <a:solidFill>
                      <a:schemeClr val="tx1"/>
                    </a:solidFill>
                  </a:rPr>
                  <a:t>19/20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566219C-BCB5-4255-B847-0A94C61C03F5}"/>
                  </a:ext>
                </a:extLst>
              </p:cNvPr>
              <p:cNvSpPr/>
              <p:nvPr/>
            </p:nvSpPr>
            <p:spPr>
              <a:xfrm>
                <a:off x="3194945" y="4234873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21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CE9FA9A2-4FF0-4CD4-BEB8-5A6B40117719}"/>
                  </a:ext>
                </a:extLst>
              </p:cNvPr>
              <p:cNvSpPr/>
              <p:nvPr/>
            </p:nvSpPr>
            <p:spPr>
              <a:xfrm>
                <a:off x="3192635" y="5470386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23</a:t>
                </a:r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41504223-E3BD-45A4-AA74-1EEA024E1DC4}"/>
                  </a:ext>
                </a:extLst>
              </p:cNvPr>
              <p:cNvSpPr/>
              <p:nvPr/>
            </p:nvSpPr>
            <p:spPr>
              <a:xfrm>
                <a:off x="3192635" y="4703533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22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8A04491-A345-48A7-8F6B-00F1C59ABBFF}"/>
                  </a:ext>
                </a:extLst>
              </p:cNvPr>
              <p:cNvSpPr/>
              <p:nvPr/>
            </p:nvSpPr>
            <p:spPr>
              <a:xfrm>
                <a:off x="3192635" y="5939046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24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FFB908B6-3436-41D1-AC9C-1DED62F53CDB}"/>
                  </a:ext>
                </a:extLst>
              </p:cNvPr>
              <p:cNvSpPr/>
              <p:nvPr/>
            </p:nvSpPr>
            <p:spPr>
              <a:xfrm>
                <a:off x="10815409" y="2592885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31</a:t>
                </a:r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A0236260-6D34-4649-B413-15268F9762A7}"/>
                  </a:ext>
                </a:extLst>
              </p:cNvPr>
              <p:cNvSpPr/>
              <p:nvPr/>
            </p:nvSpPr>
            <p:spPr>
              <a:xfrm>
                <a:off x="7970654" y="2592885"/>
                <a:ext cx="380999" cy="443345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400">
                    <a:solidFill>
                      <a:schemeClr val="bg1"/>
                    </a:solidFill>
                  </a:rPr>
                  <a:t>30</a:t>
                </a:r>
                <a:endParaRPr lang="en-US" sz="1400">
                  <a:solidFill>
                    <a:schemeClr val="bg1"/>
                  </a:solidFill>
                  <a:cs typeface="Calibri"/>
                </a:endParaRP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E8A4E02-7871-A5A2-96C2-8E205C7EAA7A}"/>
              </a:ext>
            </a:extLst>
          </p:cNvPr>
          <p:cNvSpPr/>
          <p:nvPr/>
        </p:nvSpPr>
        <p:spPr>
          <a:xfrm>
            <a:off x="11632322" y="1920338"/>
            <a:ext cx="380999" cy="44334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32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02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4AEF7-A5C2-43B3-B331-EAE602736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659705"/>
              </p:ext>
            </p:extLst>
          </p:nvPr>
        </p:nvGraphicFramePr>
        <p:xfrm>
          <a:off x="7017066" y="167162"/>
          <a:ext cx="4857540" cy="6782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7116">
                  <a:extLst>
                    <a:ext uri="{9D8B030D-6E8A-4147-A177-3AD203B41FA5}">
                      <a16:colId xmlns:a16="http://schemas.microsoft.com/office/drawing/2014/main" val="2566011964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3718505858"/>
                    </a:ext>
                  </a:extLst>
                </a:gridCol>
                <a:gridCol w="1083887">
                  <a:extLst>
                    <a:ext uri="{9D8B030D-6E8A-4147-A177-3AD203B41FA5}">
                      <a16:colId xmlns:a16="http://schemas.microsoft.com/office/drawing/2014/main" val="309151594"/>
                    </a:ext>
                  </a:extLst>
                </a:gridCol>
                <a:gridCol w="1390193">
                  <a:extLst>
                    <a:ext uri="{9D8B030D-6E8A-4147-A177-3AD203B41FA5}">
                      <a16:colId xmlns:a16="http://schemas.microsoft.com/office/drawing/2014/main" val="3657061489"/>
                    </a:ext>
                  </a:extLst>
                </a:gridCol>
                <a:gridCol w="1109504">
                  <a:extLst>
                    <a:ext uri="{9D8B030D-6E8A-4147-A177-3AD203B41FA5}">
                      <a16:colId xmlns:a16="http://schemas.microsoft.com/office/drawing/2014/main" val="3601874630"/>
                    </a:ext>
                  </a:extLst>
                </a:gridCol>
              </a:tblGrid>
              <a:tr h="1367369">
                <a:tc gridSpan="2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FRZ-248 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Disposal Freezer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S/N#:VWR 48JO467-1810;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Input:76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94966"/>
                  </a:ext>
                </a:extLst>
              </a:tr>
              <a:tr h="1336983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F3212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Chemical/Diet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S/N#:0116927301120713;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Input:75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6897"/>
                  </a:ext>
                </a:extLst>
              </a:tr>
              <a:tr h="1033123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F3584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S/N#:14050055;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Input:74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52472"/>
                  </a:ext>
                </a:extLst>
              </a:tr>
              <a:tr h="1033123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FRZ-220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S/N#:16110354;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Input:73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763397"/>
                  </a:ext>
                </a:extLst>
              </a:tr>
              <a:tr h="243088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677512"/>
                  </a:ext>
                </a:extLst>
              </a:tr>
              <a:tr h="16104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I1121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WTP; CPB; MBB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15°C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S/N#:3966.01.02I;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Input:107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I1112 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Leps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and Rootworm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S/N#:99-006;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Input:108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I1112 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Leps and Rootworm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S/N#:99-006;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Input:108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INC-111 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Parasitic Wasp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:25°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S/N#:7306-22-1-026P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Node3  Input: 109/ 110 (temp/humidity)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R2192 Chemical/Buffer Storage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Temp:4°C ± 5°C; 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S/N#:U08T-135836-UT; Node:3; 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Input:72 (temp)-Rees System</a:t>
                      </a:r>
                      <a:endParaRPr kumimoji="0"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3200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D38ADE-9C8F-426C-9306-4AFD0F0F8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491755"/>
              </p:ext>
            </p:extLst>
          </p:nvPr>
        </p:nvGraphicFramePr>
        <p:xfrm>
          <a:off x="7395712" y="1986726"/>
          <a:ext cx="1415142" cy="1737360"/>
        </p:xfrm>
        <a:graphic>
          <a:graphicData uri="http://schemas.openxmlformats.org/drawingml/2006/table">
            <a:tbl>
              <a:tblPr/>
              <a:tblGrid>
                <a:gridCol w="1415142">
                  <a:extLst>
                    <a:ext uri="{9D8B030D-6E8A-4147-A177-3AD203B41FA5}">
                      <a16:colId xmlns:a16="http://schemas.microsoft.com/office/drawing/2014/main" val="3461019566"/>
                    </a:ext>
                  </a:extLst>
                </a:gridCol>
              </a:tblGrid>
              <a:tr h="1716593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FRZ-316</a:t>
                      </a:r>
                      <a:r>
                        <a:rPr kumimoji="0" lang="en-US" sz="18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Storage Freezer FF4800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 -80 + 10 - 20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 1116144001210511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 2 (temp) –REES System</a:t>
                      </a:r>
                    </a:p>
                    <a:p>
                      <a:endParaRPr 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13658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02CA9E-A875-4A25-B764-8B77F6222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688028"/>
              </p:ext>
            </p:extLst>
          </p:nvPr>
        </p:nvGraphicFramePr>
        <p:xfrm>
          <a:off x="0" y="1"/>
          <a:ext cx="6786157" cy="7018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9412">
                  <a:extLst>
                    <a:ext uri="{9D8B030D-6E8A-4147-A177-3AD203B41FA5}">
                      <a16:colId xmlns:a16="http://schemas.microsoft.com/office/drawing/2014/main" val="2168245474"/>
                    </a:ext>
                  </a:extLst>
                </a:gridCol>
                <a:gridCol w="503414">
                  <a:extLst>
                    <a:ext uri="{9D8B030D-6E8A-4147-A177-3AD203B41FA5}">
                      <a16:colId xmlns:a16="http://schemas.microsoft.com/office/drawing/2014/main" val="2633660239"/>
                    </a:ext>
                  </a:extLst>
                </a:gridCol>
                <a:gridCol w="2110251">
                  <a:extLst>
                    <a:ext uri="{9D8B030D-6E8A-4147-A177-3AD203B41FA5}">
                      <a16:colId xmlns:a16="http://schemas.microsoft.com/office/drawing/2014/main" val="3584098760"/>
                    </a:ext>
                  </a:extLst>
                </a:gridCol>
                <a:gridCol w="2123080">
                  <a:extLst>
                    <a:ext uri="{9D8B030D-6E8A-4147-A177-3AD203B41FA5}">
                      <a16:colId xmlns:a16="http://schemas.microsoft.com/office/drawing/2014/main" val="4085178598"/>
                    </a:ext>
                  </a:extLst>
                </a:gridCol>
              </a:tblGrid>
              <a:tr h="1510833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INC-84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12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</a:rPr>
                        <a:t>14 Light: 10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</a:rPr>
                        <a:t>Dark</a:t>
                      </a:r>
                      <a:endParaRPr kumimoji="0" lang="en-US" sz="120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S/N#:26725.01.19D; Node:3;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Input:87/88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I3213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Lep/</a:t>
                      </a:r>
                      <a:r>
                        <a:rPr lang="en-US" sz="12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Cbp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/</a:t>
                      </a:r>
                      <a:r>
                        <a:rPr lang="en-US" sz="12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mbb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Bioassays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Light: 10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S/N#:17204.01.12F;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Input:85/86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79198"/>
                  </a:ext>
                </a:extLst>
              </a:tr>
              <a:tr h="1436773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I840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Cricket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25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70% 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± 10%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16:8 L:D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S/N#:3966.02.02I 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103/104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93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; Aquatic NTO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Temp:23°C ± 5°C;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 60% ± 10%;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 Light: 8 Dark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S/N#:29748.03.21;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89/90(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I3413 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 SCR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S/N#:18810.01.13H;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Input:83/84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57388"/>
                  </a:ext>
                </a:extLst>
              </a:tr>
              <a:tr h="1303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I1601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SCR/WCR Handling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S/N#:8904.01.06C;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102/101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94 Drosophila </a:t>
                      </a:r>
                      <a:endParaRPr kumimoji="0"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S/N#:29748.02.21;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Input:91/92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INC-63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de-DE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S/N#:21725.01.15H;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Input:81/82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138766"/>
                  </a:ext>
                </a:extLst>
              </a:tr>
              <a:tr h="1303464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I2377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Geocoris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50%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S/N#:13241.01.09H;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Input:99/100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INC-92</a:t>
                      </a:r>
                      <a:endParaRPr kumimoji="0" lang="en-US" sz="1200" b="0" i="0" u="sng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27C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S/N#:29748.01.21;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Input:93/94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INC-71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S/N#:24447.01.17F;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Input:79/80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709287"/>
                  </a:ext>
                </a:extLst>
              </a:tr>
              <a:tr h="117664">
                <a:tc rowSpan="2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Parasitic Wasp</a:t>
                      </a:r>
                      <a:endParaRPr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:25°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202625"/>
                  </a:ext>
                </a:extLst>
              </a:tr>
              <a:tr h="1185800">
                <a:tc vMerge="1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Nabis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lang="en-US" sz="1000" b="0" i="0" u="none" strike="noStrike" kern="1200" cap="none" spc="0" normalizeH="0" baseline="0" noProof="0" err="1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:27°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I1383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Lygus </a:t>
                      </a:r>
                      <a:r>
                        <a:rPr kumimoji="0"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lineolaris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S/N#:749.01.05J;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Input:95/96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sng"/>
                        <a:t>INC-90</a:t>
                      </a:r>
                      <a:r>
                        <a:rPr lang="en-US" sz="1400" u="sng"/>
                        <a:t> </a:t>
                      </a:r>
                      <a:r>
                        <a:rPr lang="en-US" sz="1000" i="1" u="none"/>
                        <a:t>SCR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Temp:27°C ± 5°C;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RH: 70% ± 10%;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24 Dark</a:t>
                      </a:r>
                      <a:endParaRPr lang="en-US" sz="1000"/>
                    </a:p>
                    <a:p>
                      <a:r>
                        <a:rPr lang="en-US" sz="1000"/>
                        <a:t>S/N#:28648.01.20G;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/>
                        <a:t>Input:77/78 (temp</a:t>
                      </a:r>
                      <a:r>
                        <a:rPr lang="en-US" sz="1000" b="0" i="0" u="none" strike="noStrike" noProof="0">
                          <a:latin typeface="Calibri"/>
                        </a:rPr>
                        <a:t>/RH</a:t>
                      </a:r>
                      <a:r>
                        <a:rPr lang="en-US" sz="1000"/>
                        <a:t>)-Rees System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462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9F42C7-55F3-42B5-AFAF-1BF7390C4328}"/>
              </a:ext>
            </a:extLst>
          </p:cNvPr>
          <p:cNvSpPr txBox="1"/>
          <p:nvPr/>
        </p:nvSpPr>
        <p:spPr>
          <a:xfrm>
            <a:off x="185785" y="530192"/>
            <a:ext cx="211006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Updated: 9/28/2022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633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02CA9E-A875-4A25-B764-8B77F6222012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6786157" cy="70184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9412">
                  <a:extLst>
                    <a:ext uri="{9D8B030D-6E8A-4147-A177-3AD203B41FA5}">
                      <a16:colId xmlns:a16="http://schemas.microsoft.com/office/drawing/2014/main" val="2168245474"/>
                    </a:ext>
                  </a:extLst>
                </a:gridCol>
                <a:gridCol w="503414">
                  <a:extLst>
                    <a:ext uri="{9D8B030D-6E8A-4147-A177-3AD203B41FA5}">
                      <a16:colId xmlns:a16="http://schemas.microsoft.com/office/drawing/2014/main" val="2633660239"/>
                    </a:ext>
                  </a:extLst>
                </a:gridCol>
                <a:gridCol w="2110251">
                  <a:extLst>
                    <a:ext uri="{9D8B030D-6E8A-4147-A177-3AD203B41FA5}">
                      <a16:colId xmlns:a16="http://schemas.microsoft.com/office/drawing/2014/main" val="3584098760"/>
                    </a:ext>
                  </a:extLst>
                </a:gridCol>
                <a:gridCol w="2123080">
                  <a:extLst>
                    <a:ext uri="{9D8B030D-6E8A-4147-A177-3AD203B41FA5}">
                      <a16:colId xmlns:a16="http://schemas.microsoft.com/office/drawing/2014/main" val="4085178598"/>
                    </a:ext>
                  </a:extLst>
                </a:gridCol>
              </a:tblGrid>
              <a:tr h="1510833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INC-84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12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</a:rPr>
                        <a:t>14 Light: 10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</a:rPr>
                        <a:t>Dark</a:t>
                      </a:r>
                      <a:endParaRPr kumimoji="0" lang="en-US" sz="120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S/N#:26725.01.19D; Node:3;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Input:87/88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I3213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Lep/Cbp/mbb Bioassays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Light: 10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S/N#:17204.01.12F;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Input:85/86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79198"/>
                  </a:ext>
                </a:extLst>
              </a:tr>
              <a:tr h="1436773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I840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Cricket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25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70% 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± 10%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16:8 L:D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S/N#:3966.02.02I 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103/104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93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; Ground beetle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Temp:27°C ± 5°C;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 70% ± 10%;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 Light: 8 Dark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S/N#:29748.03.21;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89/90(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I3413 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 SCR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S/N#:18810.01.13H;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Input:83/84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57388"/>
                  </a:ext>
                </a:extLst>
              </a:tr>
              <a:tr h="13034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I1601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SCR/WCR Handling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hrs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S/N#:8904.01.06C;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102/101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94 Drosophila </a:t>
                      </a:r>
                      <a:endParaRPr kumimoji="0"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S/N#:29748.02.21;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Input:91/92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INC-63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de-DE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S/N#:21725.01.15H;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Input:81/82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138766"/>
                  </a:ext>
                </a:extLst>
              </a:tr>
              <a:tr h="1303464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I2377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Geocoris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50%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S/N#:13241.01.09H;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Input:99/100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INC-92</a:t>
                      </a:r>
                      <a:endParaRPr kumimoji="0" lang="en-US" sz="1200" b="0" i="0" u="sng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27C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S/N#:29748.01.21;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Input:93/94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INC-71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S/N#:24447.01.17F;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Input:79/80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709287"/>
                  </a:ext>
                </a:extLst>
              </a:tr>
              <a:tr h="117664">
                <a:tc rowSpan="2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Nabis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:25°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202625"/>
                  </a:ext>
                </a:extLst>
              </a:tr>
              <a:tr h="1185800">
                <a:tc vMerge="1"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Nabis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lang="en-US" sz="1000" b="0" i="0" u="none" strike="noStrike" kern="1200" cap="none" spc="0" normalizeH="0" baseline="0" noProof="0" err="1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:27°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I1383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Lygus </a:t>
                      </a:r>
                      <a:r>
                        <a:rPr kumimoji="0"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lineolaris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80%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S/N#:749.01.05J;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Input:95/96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sng"/>
                        <a:t>INC-90</a:t>
                      </a:r>
                      <a:r>
                        <a:rPr lang="en-US" sz="1400" u="sng"/>
                        <a:t> </a:t>
                      </a:r>
                      <a:r>
                        <a:rPr lang="en-US" sz="1000" i="1" u="none"/>
                        <a:t>SCR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Temp:27°C ± 5°C;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RH: 70% ± 10%;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24 Dark</a:t>
                      </a:r>
                      <a:endParaRPr lang="en-US" sz="1000"/>
                    </a:p>
                    <a:p>
                      <a:r>
                        <a:rPr lang="en-US" sz="1000"/>
                        <a:t>S/N#:28648.01.20G;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/>
                        <a:t>Input:77/78 (temp</a:t>
                      </a:r>
                      <a:r>
                        <a:rPr lang="en-US" sz="1000" b="0" i="0" u="none" strike="noStrike" noProof="0">
                          <a:latin typeface="Calibri"/>
                        </a:rPr>
                        <a:t>/RH</a:t>
                      </a:r>
                      <a:r>
                        <a:rPr lang="en-US" sz="1000"/>
                        <a:t>)-Rees System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462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4AEF7-A5C2-43B3-B331-EAE602736EA3}"/>
              </a:ext>
            </a:extLst>
          </p:cNvPr>
          <p:cNvGraphicFramePr>
            <a:graphicFrameLocks noGrp="1"/>
          </p:cNvGraphicFramePr>
          <p:nvPr/>
        </p:nvGraphicFramePr>
        <p:xfrm>
          <a:off x="7017066" y="167162"/>
          <a:ext cx="4860898" cy="6644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5544">
                  <a:extLst>
                    <a:ext uri="{9D8B030D-6E8A-4147-A177-3AD203B41FA5}">
                      <a16:colId xmlns:a16="http://schemas.microsoft.com/office/drawing/2014/main" val="2566011964"/>
                    </a:ext>
                  </a:extLst>
                </a:gridCol>
                <a:gridCol w="1675703">
                  <a:extLst>
                    <a:ext uri="{9D8B030D-6E8A-4147-A177-3AD203B41FA5}">
                      <a16:colId xmlns:a16="http://schemas.microsoft.com/office/drawing/2014/main" val="309151594"/>
                    </a:ext>
                  </a:extLst>
                </a:gridCol>
                <a:gridCol w="1619651">
                  <a:extLst>
                    <a:ext uri="{9D8B030D-6E8A-4147-A177-3AD203B41FA5}">
                      <a16:colId xmlns:a16="http://schemas.microsoft.com/office/drawing/2014/main" val="3657061489"/>
                    </a:ext>
                  </a:extLst>
                </a:gridCol>
              </a:tblGrid>
              <a:tr h="1367369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FRZ-248 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Disposal Freezer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S/N#:VWR 48JO467-1810;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Input:76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94966"/>
                  </a:ext>
                </a:extLst>
              </a:tr>
              <a:tr h="1336983">
                <a:tc gridSpan="2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F3212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Chemical/Diet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S/N#:0116927301120713;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Input:75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6897"/>
                  </a:ext>
                </a:extLst>
              </a:tr>
              <a:tr h="1033123">
                <a:tc gridSpan="2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F3584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S/N#:14050055;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Input:74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52472"/>
                  </a:ext>
                </a:extLst>
              </a:tr>
              <a:tr h="1033123">
                <a:tc gridSpan="2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FRZ-220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S/N#:16110354;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Input:73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763397"/>
                  </a:ext>
                </a:extLst>
              </a:tr>
              <a:tr h="243088">
                <a:tc gridSpan="2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677512"/>
                  </a:ext>
                </a:extLst>
              </a:tr>
              <a:tr h="16104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I1121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WTP; CPB; MBB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15°C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S/N#:3966.01.02I;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Input:107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I1112 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Leps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 and Rootworm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10°C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S/N#:99-006;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Input:108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R2192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Chemical/Buffer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Temp:4°C ± 5°C;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S/N#:U08T-135836-UT;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Input:72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32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9F42C7-55F3-42B5-AFAF-1BF7390C4328}"/>
              </a:ext>
            </a:extLst>
          </p:cNvPr>
          <p:cNvSpPr txBox="1"/>
          <p:nvPr/>
        </p:nvSpPr>
        <p:spPr>
          <a:xfrm>
            <a:off x="185785" y="530192"/>
            <a:ext cx="1993046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Updated: 8/3/2022</a:t>
            </a:r>
            <a:endParaRPr lang="en-US"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D38ADE-9C8F-426C-9306-4AFD0F0F8E9B}"/>
              </a:ext>
            </a:extLst>
          </p:cNvPr>
          <p:cNvGraphicFramePr>
            <a:graphicFrameLocks noGrp="1"/>
          </p:cNvGraphicFramePr>
          <p:nvPr/>
        </p:nvGraphicFramePr>
        <p:xfrm>
          <a:off x="8599055" y="166255"/>
          <a:ext cx="1644072" cy="1463040"/>
        </p:xfrm>
        <a:graphic>
          <a:graphicData uri="http://schemas.openxmlformats.org/drawingml/2006/table">
            <a:tbl>
              <a:tblPr/>
              <a:tblGrid>
                <a:gridCol w="1644072">
                  <a:extLst>
                    <a:ext uri="{9D8B030D-6E8A-4147-A177-3AD203B41FA5}">
                      <a16:colId xmlns:a16="http://schemas.microsoft.com/office/drawing/2014/main" val="3461019566"/>
                    </a:ext>
                  </a:extLst>
                </a:gridCol>
              </a:tblGrid>
              <a:tr h="1385454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FRZ-316</a:t>
                      </a:r>
                      <a:r>
                        <a:rPr kumimoji="0" lang="en-US" sz="18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Storage Freezer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 -80 + 10 - 20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 1116144001210511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 2 (temp) –REES System</a:t>
                      </a:r>
                    </a:p>
                    <a:p>
                      <a:endParaRPr 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13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73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02CA9E-A875-4A25-B764-8B77F6222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46209"/>
              </p:ext>
            </p:extLst>
          </p:nvPr>
        </p:nvGraphicFramePr>
        <p:xfrm>
          <a:off x="185788" y="60960"/>
          <a:ext cx="6786157" cy="673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121">
                  <a:extLst>
                    <a:ext uri="{9D8B030D-6E8A-4147-A177-3AD203B41FA5}">
                      <a16:colId xmlns:a16="http://schemas.microsoft.com/office/drawing/2014/main" val="2168245474"/>
                    </a:ext>
                  </a:extLst>
                </a:gridCol>
                <a:gridCol w="320705">
                  <a:extLst>
                    <a:ext uri="{9D8B030D-6E8A-4147-A177-3AD203B41FA5}">
                      <a16:colId xmlns:a16="http://schemas.microsoft.com/office/drawing/2014/main" val="2633660239"/>
                    </a:ext>
                  </a:extLst>
                </a:gridCol>
                <a:gridCol w="2110251">
                  <a:extLst>
                    <a:ext uri="{9D8B030D-6E8A-4147-A177-3AD203B41FA5}">
                      <a16:colId xmlns:a16="http://schemas.microsoft.com/office/drawing/2014/main" val="3584098760"/>
                    </a:ext>
                  </a:extLst>
                </a:gridCol>
                <a:gridCol w="2123080">
                  <a:extLst>
                    <a:ext uri="{9D8B030D-6E8A-4147-A177-3AD203B41FA5}">
                      <a16:colId xmlns:a16="http://schemas.microsoft.com/office/drawing/2014/main" val="4085178598"/>
                    </a:ext>
                  </a:extLst>
                </a:gridCol>
              </a:tblGrid>
              <a:tr h="128016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INC-84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12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</a:rPr>
                        <a:t>14 Light: 10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</a:rPr>
                        <a:t>Dark</a:t>
                      </a:r>
                      <a:endParaRPr kumimoji="0" lang="en-US" sz="1200"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S/N#:26725.01.19D; Node:3;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Input:87/88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I3213 </a:t>
                      </a:r>
                      <a:r>
                        <a:rPr lang="en-US" sz="12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Lep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/</a:t>
                      </a:r>
                      <a:r>
                        <a:rPr lang="en-US" sz="12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Cbp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/</a:t>
                      </a:r>
                      <a:r>
                        <a:rPr lang="en-US" sz="12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mbb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Bioassays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Light: 10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S/N#:17204.01.12F;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Input:85/86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7919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I840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Cold Storage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Ambient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24 </a:t>
                      </a:r>
                      <a:r>
                        <a:rPr lang="en-US" sz="12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hrs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Dark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S/N#:3966.02.02I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93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; Ground beetle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Temp:25°C ± 5°C;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 70% ± 10%;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 Light: 8 Dark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S/N#:29748.03.21;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89/90(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I3413 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 SCR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S/N#:18810.01.13H;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Input:83/84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5738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I1601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SCR/WCR Handling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S/N#:8904.01.06C;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Input:101/102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94 Drosophila </a:t>
                      </a:r>
                      <a:endParaRPr kumimoji="0"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S/N#:29748.02.21;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Input:91/92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INC-63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de-DE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S/N#:21725.01.15H;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Input:81/82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138766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I2377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Geocoris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50%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S/N#:13241.01.09H;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Input:99/100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INC-92</a:t>
                      </a:r>
                      <a:endParaRPr kumimoji="0" lang="en-US" sz="1200" b="0" i="0" u="sng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25C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S/N#:29748.01.21;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Input:93/94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INC-71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S/N#:24447.01.17F;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Input:79/80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709287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Nabis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lang="en-US" sz="1000" b="0" i="0" u="none" strike="noStrike" kern="1200" cap="none" spc="0" normalizeH="0" baseline="0" noProof="0" err="1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:27°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I1383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Lygus </a:t>
                      </a:r>
                      <a:r>
                        <a:rPr kumimoji="0"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lineolaris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80%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S/N#:749.01.05J;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Input:95/96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sng"/>
                        <a:t>INC-90</a:t>
                      </a:r>
                      <a:r>
                        <a:rPr lang="en-US" sz="1400" u="sng"/>
                        <a:t> </a:t>
                      </a:r>
                      <a:r>
                        <a:rPr lang="en-US" sz="1000" i="1" u="none"/>
                        <a:t>SCR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Temp:27°C ± 5°C;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RH: 70% ± 10%;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14 light:10 dark</a:t>
                      </a:r>
                    </a:p>
                    <a:p>
                      <a:endParaRPr lang="en-US" sz="1000"/>
                    </a:p>
                    <a:p>
                      <a:r>
                        <a:rPr lang="en-US" sz="1000"/>
                        <a:t>S/N#:28648.01.20G;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/>
                        <a:t>Input:77/78 (temp</a:t>
                      </a:r>
                      <a:r>
                        <a:rPr lang="en-US" sz="1000" b="0" i="0" u="none" strike="noStrike" noProof="0">
                          <a:latin typeface="Calibri"/>
                        </a:rPr>
                        <a:t>/RH</a:t>
                      </a:r>
                      <a:r>
                        <a:rPr lang="en-US" sz="1000"/>
                        <a:t>)-Rees System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462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4AEF7-A5C2-43B3-B331-EAE602736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788781"/>
              </p:ext>
            </p:extLst>
          </p:nvPr>
        </p:nvGraphicFramePr>
        <p:xfrm>
          <a:off x="7157734" y="60960"/>
          <a:ext cx="4848481" cy="66298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321">
                  <a:extLst>
                    <a:ext uri="{9D8B030D-6E8A-4147-A177-3AD203B41FA5}">
                      <a16:colId xmlns:a16="http://schemas.microsoft.com/office/drawing/2014/main" val="2566011964"/>
                    </a:ext>
                  </a:extLst>
                </a:gridCol>
                <a:gridCol w="220092">
                  <a:extLst>
                    <a:ext uri="{9D8B030D-6E8A-4147-A177-3AD203B41FA5}">
                      <a16:colId xmlns:a16="http://schemas.microsoft.com/office/drawing/2014/main" val="2451179581"/>
                    </a:ext>
                  </a:extLst>
                </a:gridCol>
                <a:gridCol w="1468235">
                  <a:extLst>
                    <a:ext uri="{9D8B030D-6E8A-4147-A177-3AD203B41FA5}">
                      <a16:colId xmlns:a16="http://schemas.microsoft.com/office/drawing/2014/main" val="309151594"/>
                    </a:ext>
                  </a:extLst>
                </a:gridCol>
                <a:gridCol w="1718833">
                  <a:extLst>
                    <a:ext uri="{9D8B030D-6E8A-4147-A177-3AD203B41FA5}">
                      <a16:colId xmlns:a16="http://schemas.microsoft.com/office/drawing/2014/main" val="3657061489"/>
                    </a:ext>
                  </a:extLst>
                </a:gridCol>
              </a:tblGrid>
              <a:tr h="1367369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1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FRZ-316</a:t>
                      </a:r>
                      <a:r>
                        <a:rPr kumimoji="0"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Storage Freezer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 -80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 1116144001210511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 2 (temp) –REES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FRZ-248 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Disposal Freezer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S/N#:VWR 48JO467-1810;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Input:70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94966"/>
                  </a:ext>
                </a:extLst>
              </a:tr>
              <a:tr h="1336983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F3212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Chemical/Diet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S/N#:0116927301120713;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Input:75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6897"/>
                  </a:ext>
                </a:extLst>
              </a:tr>
              <a:tr h="1033123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F3584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S/N#:14050055;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Input:74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52472"/>
                  </a:ext>
                </a:extLst>
              </a:tr>
              <a:tr h="1033123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FRZ-220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S/N#:16110354;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Input:73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763397"/>
                  </a:ext>
                </a:extLst>
              </a:tr>
              <a:tr h="243088">
                <a:tc gridSpan="3"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677512"/>
                  </a:ext>
                </a:extLst>
              </a:tr>
              <a:tr h="1610457"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I1112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WTP; CPB; MBB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15°C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S/N#:3966.01.02I;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Input:108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I1121 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Storage WTP; CPB; MBB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15°C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S/N#:99-006;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uLnTx/>
                          <a:uFillTx/>
                        </a:rPr>
                        <a:t>XXX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F0000"/>
                          </a:highlight>
                          <a:uLnTx/>
                          <a:uFillTx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R2192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Chemical/Buffer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Temp:4°C ± 5°C;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S/N#:U08T-135836-UT;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Input:72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32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9F42C7-55F3-42B5-AFAF-1BF7390C4328}"/>
              </a:ext>
            </a:extLst>
          </p:cNvPr>
          <p:cNvSpPr txBox="1"/>
          <p:nvPr/>
        </p:nvSpPr>
        <p:spPr>
          <a:xfrm>
            <a:off x="185785" y="530192"/>
            <a:ext cx="222708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Updated: 11/11/2021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5975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02CA9E-A875-4A25-B764-8B77F6222012}"/>
              </a:ext>
            </a:extLst>
          </p:cNvPr>
          <p:cNvGraphicFramePr>
            <a:graphicFrameLocks noGrp="1"/>
          </p:cNvGraphicFramePr>
          <p:nvPr/>
        </p:nvGraphicFramePr>
        <p:xfrm>
          <a:off x="185788" y="223344"/>
          <a:ext cx="6786157" cy="646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121">
                  <a:extLst>
                    <a:ext uri="{9D8B030D-6E8A-4147-A177-3AD203B41FA5}">
                      <a16:colId xmlns:a16="http://schemas.microsoft.com/office/drawing/2014/main" val="2168245474"/>
                    </a:ext>
                  </a:extLst>
                </a:gridCol>
                <a:gridCol w="320705">
                  <a:extLst>
                    <a:ext uri="{9D8B030D-6E8A-4147-A177-3AD203B41FA5}">
                      <a16:colId xmlns:a16="http://schemas.microsoft.com/office/drawing/2014/main" val="2633660239"/>
                    </a:ext>
                  </a:extLst>
                </a:gridCol>
                <a:gridCol w="2110251">
                  <a:extLst>
                    <a:ext uri="{9D8B030D-6E8A-4147-A177-3AD203B41FA5}">
                      <a16:colId xmlns:a16="http://schemas.microsoft.com/office/drawing/2014/main" val="3584098760"/>
                    </a:ext>
                  </a:extLst>
                </a:gridCol>
                <a:gridCol w="2123080">
                  <a:extLst>
                    <a:ext uri="{9D8B030D-6E8A-4147-A177-3AD203B41FA5}">
                      <a16:colId xmlns:a16="http://schemas.microsoft.com/office/drawing/2014/main" val="4085178598"/>
                    </a:ext>
                  </a:extLst>
                </a:gridCol>
              </a:tblGrid>
              <a:tr h="128016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kumimoji="0" lang="en-US" sz="1200" b="0" i="1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I3213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Calibri"/>
                        </a:rPr>
                        <a:t>Lep Bioassays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Light: 10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S/N#:17204.01.12F;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Input:85/86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7919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I840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Cold Storage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Ambient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24 </a:t>
                      </a:r>
                      <a:r>
                        <a:rPr lang="en-US" sz="12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hrs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Dark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S/N#:3966.02.02I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93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Temp:25°C ± 5°C;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 70% ± 10%;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 Light: 8 Dark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S/N#:29748.03.21;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89/90(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I3413 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 SCR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S/N#:18810.01.13H;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Input:83/84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5738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I1601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SCR/WCR Handling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S/N#:8904.01.06C;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Input:101/102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94 </a:t>
                      </a:r>
                      <a:endParaRPr kumimoji="0"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S/N#:29748.02.21;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Input:91/92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NC-63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de-DE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S/N#:21725.01.15H;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Input:81/82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138766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I2377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Geocoris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50%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S/N#:13241.01.09H;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Input:99/100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INC-92</a:t>
                      </a:r>
                      <a:endParaRPr kumimoji="0" lang="en-US" sz="1200" b="0" i="0" u="sng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25C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S/N#:29748.01.21;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Input:93/94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INC-71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S/N#:24447.01.17F;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Input:79/80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709287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Nabis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lang="en-US" sz="1000" b="0" i="0" u="none" strike="noStrike" kern="1200" cap="none" spc="0" normalizeH="0" baseline="0" noProof="0" err="1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:27°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I1383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Thrips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80%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S/N#:749.01.05J;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Input:95/96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sng"/>
                        <a:t>INC-90</a:t>
                      </a:r>
                      <a:r>
                        <a:rPr lang="en-US" sz="1400" u="sng"/>
                        <a:t> </a:t>
                      </a:r>
                      <a:r>
                        <a:rPr lang="en-US" sz="1000" i="1" u="none"/>
                        <a:t>INSECT HANDLING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Temp:27°C ± 5°C;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RH: 70% ± 10%;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14 light:10 dark</a:t>
                      </a:r>
                    </a:p>
                    <a:p>
                      <a:endParaRPr lang="en-US" sz="1000"/>
                    </a:p>
                    <a:p>
                      <a:r>
                        <a:rPr lang="en-US" sz="1000"/>
                        <a:t>S/N#:28648.01.20G;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/>
                        <a:t>Input:77/78 (temp</a:t>
                      </a:r>
                      <a:r>
                        <a:rPr lang="en-US" sz="1000" b="0" i="0" u="none" strike="noStrike" noProof="0">
                          <a:latin typeface="Calibri"/>
                        </a:rPr>
                        <a:t>/RH</a:t>
                      </a:r>
                      <a:r>
                        <a:rPr lang="en-US" sz="1000"/>
                        <a:t>)-Rees System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462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4AEF7-A5C2-43B3-B331-EAE602736EA3}"/>
              </a:ext>
            </a:extLst>
          </p:cNvPr>
          <p:cNvGraphicFramePr>
            <a:graphicFrameLocks noGrp="1"/>
          </p:cNvGraphicFramePr>
          <p:nvPr/>
        </p:nvGraphicFramePr>
        <p:xfrm>
          <a:off x="7573818" y="538787"/>
          <a:ext cx="4130834" cy="54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3080">
                  <a:extLst>
                    <a:ext uri="{9D8B030D-6E8A-4147-A177-3AD203B41FA5}">
                      <a16:colId xmlns:a16="http://schemas.microsoft.com/office/drawing/2014/main" val="2566011964"/>
                    </a:ext>
                  </a:extLst>
                </a:gridCol>
                <a:gridCol w="2007754">
                  <a:extLst>
                    <a:ext uri="{9D8B030D-6E8A-4147-A177-3AD203B41FA5}">
                      <a16:colId xmlns:a16="http://schemas.microsoft.com/office/drawing/2014/main" val="365706148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FRZ-248 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Disposal Freezer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S/N#:VWR 48JO467-1810;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Input:70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9496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F3212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Chemical/Diet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S/N#:0116927301120713;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Input:75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689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F3584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S/N#:14050055;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Input:74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5247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FRZ-220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S/N#:16110354;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Input:73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763397"/>
                  </a:ext>
                </a:extLst>
              </a:tr>
              <a:tr h="52086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67751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Calibri"/>
                        </a:rPr>
                        <a:t>I1112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WTP; CPB; MBB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15°C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S/N#:3966.01.02I;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Input:108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R2192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Chemical/Buffer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Temp:4°C ± 5°C;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S/N#:U08T-135836-UT;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Input:72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32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9F42C7-55F3-42B5-AFAF-1BF7390C4328}"/>
              </a:ext>
            </a:extLst>
          </p:cNvPr>
          <p:cNvSpPr txBox="1"/>
          <p:nvPr/>
        </p:nvSpPr>
        <p:spPr>
          <a:xfrm>
            <a:off x="9394693" y="6260068"/>
            <a:ext cx="222708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Updated: 09/20/2021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444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02CA9E-A875-4A25-B764-8B77F6222012}"/>
              </a:ext>
            </a:extLst>
          </p:cNvPr>
          <p:cNvGraphicFramePr>
            <a:graphicFrameLocks noGrp="1"/>
          </p:cNvGraphicFramePr>
          <p:nvPr/>
        </p:nvGraphicFramePr>
        <p:xfrm>
          <a:off x="185788" y="223344"/>
          <a:ext cx="6786157" cy="646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121">
                  <a:extLst>
                    <a:ext uri="{9D8B030D-6E8A-4147-A177-3AD203B41FA5}">
                      <a16:colId xmlns:a16="http://schemas.microsoft.com/office/drawing/2014/main" val="2168245474"/>
                    </a:ext>
                  </a:extLst>
                </a:gridCol>
                <a:gridCol w="320705">
                  <a:extLst>
                    <a:ext uri="{9D8B030D-6E8A-4147-A177-3AD203B41FA5}">
                      <a16:colId xmlns:a16="http://schemas.microsoft.com/office/drawing/2014/main" val="2633660239"/>
                    </a:ext>
                  </a:extLst>
                </a:gridCol>
                <a:gridCol w="2110251">
                  <a:extLst>
                    <a:ext uri="{9D8B030D-6E8A-4147-A177-3AD203B41FA5}">
                      <a16:colId xmlns:a16="http://schemas.microsoft.com/office/drawing/2014/main" val="3584098760"/>
                    </a:ext>
                  </a:extLst>
                </a:gridCol>
                <a:gridCol w="2123080">
                  <a:extLst>
                    <a:ext uri="{9D8B030D-6E8A-4147-A177-3AD203B41FA5}">
                      <a16:colId xmlns:a16="http://schemas.microsoft.com/office/drawing/2014/main" val="4085178598"/>
                    </a:ext>
                  </a:extLst>
                </a:gridCol>
              </a:tblGrid>
              <a:tr h="128016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INC-84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WASP</a:t>
                      </a:r>
                      <a:endParaRPr lang="en-US" sz="12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 Light: 10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S/N#:26725.01.19D;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Input:87/88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I3213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Calibri"/>
                        </a:rPr>
                        <a:t>Lep Bioassays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Light: 10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S/N#:17204.01.12F;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Input:85/86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7919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I840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Cold Storage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°C ± 5°C;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 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Ambient 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24 </a:t>
                      </a:r>
                      <a:r>
                        <a:rPr lang="en-US" sz="12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hrs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 </a:t>
                      </a: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Dark</a:t>
                      </a: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S/N#:3966.02.02I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94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Temp:25°C ± 5°C;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RH: 70% ± 10%; 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 Light: 8 Dark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89/90(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I3413 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 SCR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S/N#:18810.01.13H;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Input:83/84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5738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I1601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SCR/WCR Handling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S/N#:8904.01.06C;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Input:101/102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 93 </a:t>
                      </a:r>
                      <a:endParaRPr kumimoji="0"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S/N#:3966.01.02I;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Input:91/92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NC-63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de-DE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S/N#:21725.01.15H;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Input:81/82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138766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I2377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Geocoris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50%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S/N#:13241.01.09H;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Input:99/100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INC-92</a:t>
                      </a:r>
                      <a:endParaRPr kumimoji="0" lang="en-US" sz="1200" b="0" i="0" u="sng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25C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S/N#:9935.01.07F;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Input:93/94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INC-71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S/N#:24447.01.17F;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Input:79/80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709287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Nabis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lang="en-US" sz="1000" b="0" i="0" u="none" strike="noStrike" kern="1200" cap="none" spc="0" normalizeH="0" baseline="0" noProof="0" err="1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:27°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I1383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Thrips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80%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S/N#:749.01.05J;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Input:95/96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sng"/>
                        <a:t>INC-90</a:t>
                      </a:r>
                      <a:r>
                        <a:rPr lang="en-US" sz="1400" u="sng"/>
                        <a:t> </a:t>
                      </a:r>
                      <a:r>
                        <a:rPr lang="en-US" sz="1000" i="1" u="none"/>
                        <a:t>INSECT HANDLING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Temp:27°C ± 5°C;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RH: 60% ± 10%;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14 light:10 dark</a:t>
                      </a:r>
                    </a:p>
                    <a:p>
                      <a:endParaRPr lang="en-US" sz="1000"/>
                    </a:p>
                    <a:p>
                      <a:r>
                        <a:rPr lang="en-US" sz="1000"/>
                        <a:t>S/N#:28648.01.20G;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/>
                        <a:t>Input:77/78 (temp</a:t>
                      </a:r>
                      <a:r>
                        <a:rPr lang="en-US" sz="1000" b="0" i="0" u="none" strike="noStrike" noProof="0">
                          <a:latin typeface="Calibri"/>
                        </a:rPr>
                        <a:t>/RH</a:t>
                      </a:r>
                      <a:r>
                        <a:rPr lang="en-US" sz="1000"/>
                        <a:t>)-Rees System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462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4AEF7-A5C2-43B3-B331-EAE602736EA3}"/>
              </a:ext>
            </a:extLst>
          </p:cNvPr>
          <p:cNvGraphicFramePr>
            <a:graphicFrameLocks noGrp="1"/>
          </p:cNvGraphicFramePr>
          <p:nvPr/>
        </p:nvGraphicFramePr>
        <p:xfrm>
          <a:off x="7573818" y="538787"/>
          <a:ext cx="4130834" cy="54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3080">
                  <a:extLst>
                    <a:ext uri="{9D8B030D-6E8A-4147-A177-3AD203B41FA5}">
                      <a16:colId xmlns:a16="http://schemas.microsoft.com/office/drawing/2014/main" val="2566011964"/>
                    </a:ext>
                  </a:extLst>
                </a:gridCol>
                <a:gridCol w="2007754">
                  <a:extLst>
                    <a:ext uri="{9D8B030D-6E8A-4147-A177-3AD203B41FA5}">
                      <a16:colId xmlns:a16="http://schemas.microsoft.com/office/drawing/2014/main" val="365706148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FRZ-248 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Disposal Freezer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S/N#:VWR 48JO467-1810;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Input:70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9496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F3212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Chemical/Diet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S/N#:0116927301120713;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Input:75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689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F3584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S/N#:14050055;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Input:74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5247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FRZ-220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S/N#:16110354;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Input:73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763397"/>
                  </a:ext>
                </a:extLst>
              </a:tr>
              <a:tr h="52086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67751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Calibri"/>
                        </a:rPr>
                        <a:t>I1112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WTP; CPB; MBB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15°C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S/N#:99-006;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Input:108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R2192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Chemical/Buffer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Temp:4°C ± 5°C;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S/N#:U08T-135836-UT;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Input:72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32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9F42C7-55F3-42B5-AFAF-1BF7390C4328}"/>
              </a:ext>
            </a:extLst>
          </p:cNvPr>
          <p:cNvSpPr txBox="1"/>
          <p:nvPr/>
        </p:nvSpPr>
        <p:spPr>
          <a:xfrm>
            <a:off x="9394693" y="6260068"/>
            <a:ext cx="222708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Updated: 08/01/2021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0969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02CA9E-A875-4A25-B764-8B77F6222012}"/>
              </a:ext>
            </a:extLst>
          </p:cNvPr>
          <p:cNvGraphicFramePr>
            <a:graphicFrameLocks noGrp="1"/>
          </p:cNvGraphicFramePr>
          <p:nvPr/>
        </p:nvGraphicFramePr>
        <p:xfrm>
          <a:off x="185788" y="223344"/>
          <a:ext cx="6786157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2121">
                  <a:extLst>
                    <a:ext uri="{9D8B030D-6E8A-4147-A177-3AD203B41FA5}">
                      <a16:colId xmlns:a16="http://schemas.microsoft.com/office/drawing/2014/main" val="2168245474"/>
                    </a:ext>
                  </a:extLst>
                </a:gridCol>
                <a:gridCol w="320705">
                  <a:extLst>
                    <a:ext uri="{9D8B030D-6E8A-4147-A177-3AD203B41FA5}">
                      <a16:colId xmlns:a16="http://schemas.microsoft.com/office/drawing/2014/main" val="2633660239"/>
                    </a:ext>
                  </a:extLst>
                </a:gridCol>
                <a:gridCol w="2110251">
                  <a:extLst>
                    <a:ext uri="{9D8B030D-6E8A-4147-A177-3AD203B41FA5}">
                      <a16:colId xmlns:a16="http://schemas.microsoft.com/office/drawing/2014/main" val="3584098760"/>
                    </a:ext>
                  </a:extLst>
                </a:gridCol>
                <a:gridCol w="2123080">
                  <a:extLst>
                    <a:ext uri="{9D8B030D-6E8A-4147-A177-3AD203B41FA5}">
                      <a16:colId xmlns:a16="http://schemas.microsoft.com/office/drawing/2014/main" val="4085178598"/>
                    </a:ext>
                  </a:extLst>
                </a:gridCol>
              </a:tblGrid>
              <a:tr h="1280160"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INC-84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WASP</a:t>
                      </a:r>
                      <a:endParaRPr lang="en-US" sz="1200" b="0" i="0" u="sng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 Light: 10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S/N#:26725.01.19D;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Input:87/88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I3213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Calibri"/>
                        </a:rPr>
                        <a:t>Lep Bioassays</a:t>
                      </a:r>
                      <a:endParaRPr kumimoji="0" lang="en-US" sz="12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Light: 10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S/N#:17204.01.12F;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Input:85/86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377919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I840</a:t>
                      </a: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Orius Handling/NTO</a:t>
                      </a:r>
                      <a:endParaRPr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FF0000"/>
                        </a:highlight>
                        <a:uLnTx/>
                        <a:uFillTx/>
                        <a:latin typeface="Calibri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16 Light: 8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S/N#:6614.01.04J;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Input:103/104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I1111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Cold Storage</a:t>
                      </a:r>
                      <a:r>
                        <a:rPr lang="en-US" sz="12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Temp:10°C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Ambient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S/N#:3966.02.02I;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Input:89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I3413 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 SCR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S/N#:18810.01.13H;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Input:83/84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157388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I1601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SCR/WCR Handling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S/N#:8904.01.06C;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Input:101/102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I1112 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out of service</a:t>
                      </a:r>
                      <a:endParaRPr kumimoji="0" lang="en-US" sz="12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60%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S/N#:3966.01.02I;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Input:91/92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NC-63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de-DE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de-DE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de-DE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S/N#:21725.01.15H;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Input:81/82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138766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I2377 </a:t>
                      </a:r>
                      <a:r>
                        <a:rPr lang="en-US" sz="1000" b="0" i="1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Geocoris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50%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S/N#:13241.01.09H;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Input:99/100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I1779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25C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14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10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Calibri"/>
                        </a:rPr>
                        <a:t> Dark</a:t>
                      </a:r>
                      <a:endParaRPr kumimoji="0" lang="en-US">
                        <a:latin typeface="Calibr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S/N#:9935.01.07F;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Input:93/94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INC-71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WCR bioassays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Temp:25°C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70%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hrs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S/N#:24447.01.17F;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Input:79/80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709287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I2378 </a:t>
                      </a:r>
                      <a:r>
                        <a:rPr lang="en-US" sz="1200" b="0" i="1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Nabis</a:t>
                      </a:r>
                      <a:r>
                        <a:rPr lang="en-US" sz="12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lang="en-US" sz="1000" b="0" i="0" u="none" strike="noStrike" kern="1200" cap="none" spc="0" normalizeH="0" baseline="0" noProof="0" err="1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:27°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Light: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Dark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S/N#:13241.02.09H;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Input:97/98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I1383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Thrips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highlight>
                            <a:srgbClr val="00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RB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effectLst/>
                        <a:highlight>
                          <a:srgbClr val="00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Temp:27°C ± 5°C;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RH: 80% ± 10%;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 Light: 10 Dark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S/N#:749.01.05J; Node:3;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Input:95/96 (temp/RH)-Rees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sng"/>
                        <a:t>INC-90</a:t>
                      </a:r>
                      <a:r>
                        <a:rPr lang="en-US" sz="1400" u="sng"/>
                        <a:t> </a:t>
                      </a:r>
                      <a:r>
                        <a:rPr lang="en-US" sz="1000" i="1" u="none"/>
                        <a:t>INSECT HANDLING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Temp:27°C ± 5°C;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RH: 60% ± 10%; 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latin typeface="Calibri"/>
                        </a:rPr>
                        <a:t>14 light:10 dark</a:t>
                      </a:r>
                    </a:p>
                    <a:p>
                      <a:endParaRPr lang="en-US" sz="1000"/>
                    </a:p>
                    <a:p>
                      <a:r>
                        <a:rPr lang="en-US" sz="1000"/>
                        <a:t>S/N#:28648.01.20G;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/>
                        <a:t>Input:77/78 (temp</a:t>
                      </a:r>
                      <a:r>
                        <a:rPr lang="en-US" sz="1000" b="0" i="0" u="none" strike="noStrike" noProof="0">
                          <a:latin typeface="Calibri"/>
                        </a:rPr>
                        <a:t>/RH</a:t>
                      </a:r>
                      <a:r>
                        <a:rPr lang="en-US" sz="1000"/>
                        <a:t>)-Rees System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54628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E4AEF7-A5C2-43B3-B331-EAE602736EA3}"/>
              </a:ext>
            </a:extLst>
          </p:cNvPr>
          <p:cNvGraphicFramePr>
            <a:graphicFrameLocks noGrp="1"/>
          </p:cNvGraphicFramePr>
          <p:nvPr/>
        </p:nvGraphicFramePr>
        <p:xfrm>
          <a:off x="7573818" y="538787"/>
          <a:ext cx="4130834" cy="55006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3080">
                  <a:extLst>
                    <a:ext uri="{9D8B030D-6E8A-4147-A177-3AD203B41FA5}">
                      <a16:colId xmlns:a16="http://schemas.microsoft.com/office/drawing/2014/main" val="2566011964"/>
                    </a:ext>
                  </a:extLst>
                </a:gridCol>
                <a:gridCol w="2007754">
                  <a:extLst>
                    <a:ext uri="{9D8B030D-6E8A-4147-A177-3AD203B41FA5}">
                      <a16:colId xmlns:a16="http://schemas.microsoft.com/office/drawing/2014/main" val="365706148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FRZ-248 </a:t>
                      </a:r>
                      <a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Disposal Freezer</a:t>
                      </a:r>
                      <a:endParaRPr kumimoji="0" lang="en-US" sz="1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S/N#:VWR 48JO467-1810;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Input:70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89496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F3212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Chemical/Diet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Temp:-20°C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S/N#:0116927301120713;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Input:75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34689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F3584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S/N#:14050055;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Input:74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5247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FRZ-220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Sample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Temp:-80°C ± 10°C;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S/N#:16110354;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Input:73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763397"/>
                  </a:ext>
                </a:extLst>
              </a:tr>
              <a:tr h="532373"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267751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sng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I1121 </a:t>
                      </a:r>
                      <a:r>
                        <a:rPr lang="en-US" sz="1000" b="0" i="1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Storage WTP; CPB; MBB</a:t>
                      </a: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15°C ± 5°C;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RH: Ambient;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24 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hrs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 Dark</a:t>
                      </a:r>
                    </a:p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S/N#:99-006; Node:3; </a:t>
                      </a:r>
                    </a:p>
                    <a:p>
                      <a:pPr lvl="0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Input:108 (temp)-Rees System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 b="0" i="0" u="none" strike="noStrike" kern="1200" cap="none" spc="0" normalizeH="0" baseline="0" noProof="0">
                        <a:ln>
                          <a:noFill/>
                        </a:ln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R2192 </a:t>
                      </a:r>
                      <a:r>
                        <a:rPr kumimoji="0" lang="en-US" sz="1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Chemical/Buffer Storage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Temp:4°C ± 5°C;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S/N#:U08T-135836-UT; Node:3;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Input:72 (temp)-Rees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732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9F42C7-55F3-42B5-AFAF-1BF7390C4328}"/>
              </a:ext>
            </a:extLst>
          </p:cNvPr>
          <p:cNvSpPr txBox="1"/>
          <p:nvPr/>
        </p:nvSpPr>
        <p:spPr>
          <a:xfrm>
            <a:off x="9394693" y="6260068"/>
            <a:ext cx="2227085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/>
              <a:t>Updated: 11/13/2020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76328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MAAAAAAAAAAwAAAAMAAAAA/////wUA2gsAAAAAAAAAAAAAIAD///////////////8AAAD///////////////8DAAAAAgD///////8DAAAAAgD///////8DAAAABAD///////8DAAAABAD///////8D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9bbhRVodmJDgT0U/5ESCCEEAAAAAAADAAAAAAADAAAAAwADAAAAAAADAAAABAADAAEA////////BQAAAAMAEAALVRutr6vY4UOvWWTSOBxNdwQAAAABAAMAAAACAAMAAAAEAAQABQD///////8FAAAABAAQAAv/nmDCZKanQrWyG8O4PP+5BAAAAAIAAwAAAAMAAwAAAAEAAwAAAAIA////////AwAAAAAA////////AwAAAAAA////////AwAAAAA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1tuFFWh2YkOBPRT/kRIIIQNEYXRhABsAAAAETGlua2VkU2hhcGVEYXRhAAUAAAAAAAJOYW1lABkAAABMaW5rZWRTaGFwZXNEYXRhUHJvcGVydHkAEFZlcnNpb24AAQAAAAlMYXN0V3JpdGUALQ3B0JcBAAAAAQD/////xgDGAAAABV9pZAAQAAAABFUbra+r2OFDr1lk0jgcTXcDRGF0YQBTAAAACFByZXNlbnRhdGlvblNjYW5uZWRGb3JMaW5rZWRTaGFwZXMAAAJOdW1iZXJGb3JtYXRTZXBhcmF0b3JNb2RlAAoAAABBdXRvbWF0aWMAAAJOYW1lACQAAABMaW5rZWRTaGFwZVByZXNlbnRhdGlvblNldHRpbmdzRGF0YQAQVmVyc2lvbgAAAAAACUxhc3RXcml0ZQA0DcHQlwEAAAACAP////+DAIMAAAAFX2lkABAAAAAE/55gwmSmp0K1shvDuDz/uQNEYXRhABsAAAAETGlua2VkU2hhcGVEYXRhAAUAAAAAAAJOYW1lABkAAABMaW5rZWRTaGFwZXNEYXRhUHJvcGVydHkAEFZlcnNpb24AAAAAAAlMYXN0V3JpdGUACQ3B0Jc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tCwAAAAAAAAAAAAAgAf///////////////wAAAP////////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EEAAAAAAAFAAAABAAFAAAAAQADAAEBAwAAAAMA////////JQAGTGlua2VkU2hhcGVQcmVzZW50YXRpb25TZXR0aW5nc0RhdGFfMAQAAAABAAUAAAAAAAUAAAAEAAQAAQEDAAAABAD///////8aAAZMaW5rZWRTaGFwZXNEYXRhUHJvcGVydHlfMAQAAAACAAUAAAAD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871508023376864"/>
  <p:tag name="EMPOWERCHARTSPROPERTIES_A_LENGTH" val="2457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haredContentType xmlns="Microsoft.SharePoint.Taxonomy.ContentTypeSync" SourceId="7bc43322-b630-4bac-8b27-31def233d1d0" ContentTypeId="0x01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A56E867A4F4545BDB1D937AAC8BBDE" ma:contentTypeVersion="29" ma:contentTypeDescription="Create a new document." ma:contentTypeScope="" ma:versionID="6e87c63155eb992efe504e6de8523c4c">
  <xsd:schema xmlns:xsd="http://www.w3.org/2001/XMLSchema" xmlns:xs="http://www.w3.org/2001/XMLSchema" xmlns:p="http://schemas.microsoft.com/office/2006/metadata/properties" xmlns:ns1="http://schemas.microsoft.com/sharepoint/v3" xmlns:ns2="1a4d292e-883c-434b-96e3-060cfff16c86" xmlns:ns3="4d8e77bf-b7b6-4e71-af7d-e49abf87ef29" xmlns:ns4="ae2eecea-806d-4295-a096-0ab34a8545eb" targetNamespace="http://schemas.microsoft.com/office/2006/metadata/properties" ma:root="true" ma:fieldsID="0691aed9ef9e3dea276c26a2e679f982" ns1:_="" ns2:_="" ns3:_="" ns4:_="">
    <xsd:import namespace="http://schemas.microsoft.com/sharepoint/v3"/>
    <xsd:import namespace="1a4d292e-883c-434b-96e3-060cfff16c86"/>
    <xsd:import namespace="4d8e77bf-b7b6-4e71-af7d-e49abf87ef29"/>
    <xsd:import namespace="ae2eecea-806d-4295-a096-0ab34a8545eb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1:_dlc_Exempt" minOccurs="0"/>
                <xsd:element ref="ns1:_dlc_ExpireDateSaved" minOccurs="0"/>
                <xsd:element ref="ns1:_dlc_ExpireDate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3:MediaLengthInSeconds" minOccurs="0"/>
                <xsd:element ref="ns3:lcf76f155ced4ddcb4097134ff3c332f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Note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dlc_Exempt" ma:index="10" nillable="true" ma:displayName="Exempt from Policy" ma:hidden="true" ma:internalName="_dlc_Exempt" ma:readOnly="false">
      <xsd:simpleType>
        <xsd:restriction base="dms:Unknown"/>
      </xsd:simpleType>
    </xsd:element>
    <xsd:element name="_dlc_ExpireDateSaved" ma:index="11" nillable="true" ma:displayName="Original Expiration Date" ma:hidden="true" ma:internalName="_dlc_ExpireDateSaved" ma:readOnly="false">
      <xsd:simpleType>
        <xsd:restriction base="dms:DateTime"/>
      </xsd:simpleType>
    </xsd:element>
    <xsd:element name="_dlc_ExpireDate" ma:index="12" nillable="true" ma:displayName="Expiration Date" ma:hidden="true" ma:internalName="_dlc_ExpireDate" ma:readOnly="false">
      <xsd:simpleType>
        <xsd:restriction base="dms:DateTime"/>
      </xsd:simpleType>
    </xsd:element>
    <xsd:element name="_ip_UnifiedCompliancePolicyProperties" ma:index="3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d292e-883c-434b-96e3-060cfff16c86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919ba93c-09d7-47bd-831d-0f897ff2c0a7}" ma:internalName="TaxCatchAll" ma:showField="CatchAllData" ma:web="ae2eecea-806d-4295-a096-0ab34a8545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919ba93c-09d7-47bd-831d-0f897ff2c0a7}" ma:internalName="TaxCatchAllLabel" ma:readOnly="true" ma:showField="CatchAllDataLabel" ma:web="ae2eecea-806d-4295-a096-0ab34a8545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8e77bf-b7b6-4e71-af7d-e49abf87ef29" elementFormDefault="qualified">
    <xsd:import namespace="http://schemas.microsoft.com/office/2006/documentManagement/types"/>
    <xsd:import namespace="http://schemas.microsoft.com/office/infopath/2007/PartnerControls"/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8" nillable="true" ma:displayName="Tags" ma:internalName="MediaServiceAutoTags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7bc43322-b630-4bac-8b27-31def233d1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" ma:index="30" nillable="true" ma:displayName="Note" ma:description="To provide more details for searching" ma:format="Dropdown" ma:internalName="Note">
      <xsd:simpleType>
        <xsd:restriction base="dms:Text">
          <xsd:maxLength value="255"/>
        </xsd:restriction>
      </xsd:simpleType>
    </xsd:element>
    <xsd:element name="MediaServiceBillingMetadata" ma:index="3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2eecea-806d-4295-a096-0ab34a8545eb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4d292e-883c-434b-96e3-060cfff16c86">
      <Value>1</Value>
    </TaxCatchAll>
    <_dlc_ExpireDateSaved xmlns="http://schemas.microsoft.com/sharepoint/v3" xsi:nil="true"/>
    <_dlc_ExpireDate xmlns="http://schemas.microsoft.com/sharepoint/v3" xsi:nil="true"/>
    <_dlc_Exempt xmlns="http://schemas.microsoft.com/sharepoint/v3" xsi:nil="true"/>
    <lcf76f155ced4ddcb4097134ff3c332f xmlns="4d8e77bf-b7b6-4e71-af7d-e49abf87ef29">
      <Terms xmlns="http://schemas.microsoft.com/office/infopath/2007/PartnerControls"/>
    </lcf76f155ced4ddcb4097134ff3c332f>
    <Note xmlns="4d8e77bf-b7b6-4e71-af7d-e49abf87ef29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0ECA9320-91CE-45C9-8F04-E1501A9E8E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7E4A41-A3B5-4895-8B0C-05DA4445531C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A315223C-424B-4555-ABCD-8D147B59AC3F}">
  <ds:schemaRefs>
    <ds:schemaRef ds:uri="1a4d292e-883c-434b-96e3-060cfff16c86"/>
    <ds:schemaRef ds:uri="4d8e77bf-b7b6-4e71-af7d-e49abf87ef29"/>
    <ds:schemaRef ds:uri="ae2eecea-806d-4295-a096-0ab34a8545e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63DE060E-1582-45DC-922D-41F488E4D970}">
  <ds:schemaRefs>
    <ds:schemaRef ds:uri="http://purl.org/dc/elements/1.1/"/>
    <ds:schemaRef ds:uri="http://schemas.microsoft.com/office/infopath/2007/PartnerControls"/>
    <ds:schemaRef ds:uri="1a4d292e-883c-434b-96e3-060cfff16c86"/>
    <ds:schemaRef ds:uri="4d8e77bf-b7b6-4e71-af7d-e49abf87ef29"/>
    <ds:schemaRef ds:uri="http://schemas.microsoft.com/office/2006/documentManagement/types"/>
    <ds:schemaRef ds:uri="http://schemas.microsoft.com/sharepoint/v3"/>
    <ds:schemaRef ds:uri="http://schemas.microsoft.com/office/2006/metadata/properties"/>
    <ds:schemaRef ds:uri="ae2eecea-806d-4295-a096-0ab34a8545eb"/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5258</Words>
  <Application>Microsoft Office PowerPoint</Application>
  <PresentationFormat>Widescreen</PresentationFormat>
  <Paragraphs>973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ROPER, BECKY [AG-Contractor/1005]</dc:creator>
  <cp:lastModifiedBy>David Dyck</cp:lastModifiedBy>
  <cp:revision>4</cp:revision>
  <cp:lastPrinted>2022-07-13T16:04:49Z</cp:lastPrinted>
  <dcterms:created xsi:type="dcterms:W3CDTF">2020-01-20T22:35:42Z</dcterms:created>
  <dcterms:modified xsi:type="dcterms:W3CDTF">2026-10-15T18:04:23Z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0x01010097A56E867A4F4545BDB1D937AAC8BBDE</vt:lpwstr>
  </property>
  <property fmtid="{D5CDD505-2E9C-101B-9397-08002B2CF9AE}" pid="3" name="c2b5fb8256bd435bb7806ac3891e195b">
    <vt:lpwstr>Short-Term|6d967203-8346-4b9c-90f8-b3828a3fa508</vt:lpwstr>
  </property>
  <property fmtid="{D5CDD505-2E9C-101B-9397-08002B2CF9AE}" pid="4" name="DataClassBayerRetention">
    <vt:lpwstr>1;#Short-Term|6d967203-8346-4b9c-90f8-b3828a3fa508</vt:lpwstr>
  </property>
  <property fmtid="{D5CDD505-2E9C-101B-9397-08002B2CF9AE}" pid="5" name="MSIP_Label_7f850223-87a8-40c3-9eb2-432606efca2a_Enabled">
    <vt:lpwstr>True</vt:lpwstr>
  </property>
  <property fmtid="{D5CDD505-2E9C-101B-9397-08002B2CF9AE}" pid="6" name="MSIP_Label_7f850223-87a8-40c3-9eb2-432606efca2a_SiteId">
    <vt:lpwstr>fcb2b37b-5da0-466b-9b83-0014b67a7c78</vt:lpwstr>
  </property>
  <property fmtid="{D5CDD505-2E9C-101B-9397-08002B2CF9AE}" pid="7" name="MSIP_Label_7f850223-87a8-40c3-9eb2-432606efca2a_Owner">
    <vt:lpwstr>becky.roper.ext@bayer.com</vt:lpwstr>
  </property>
  <property fmtid="{D5CDD505-2E9C-101B-9397-08002B2CF9AE}" pid="8" name="MSIP_Label_7f850223-87a8-40c3-9eb2-432606efca2a_SetDate">
    <vt:lpwstr>2020-10-22T21:43:37.2955828Z</vt:lpwstr>
  </property>
  <property fmtid="{D5CDD505-2E9C-101B-9397-08002B2CF9AE}" pid="9" name="MSIP_Label_7f850223-87a8-40c3-9eb2-432606efca2a_Name">
    <vt:lpwstr>NO CLASSIFICATION</vt:lpwstr>
  </property>
  <property fmtid="{D5CDD505-2E9C-101B-9397-08002B2CF9AE}" pid="10" name="MSIP_Label_7f850223-87a8-40c3-9eb2-432606efca2a_Application">
    <vt:lpwstr>Microsoft Azure Information Protection</vt:lpwstr>
  </property>
  <property fmtid="{D5CDD505-2E9C-101B-9397-08002B2CF9AE}" pid="11" name="MSIP_Label_7f850223-87a8-40c3-9eb2-432606efca2a_Extended_MSFT_Method">
    <vt:lpwstr>Manual</vt:lpwstr>
  </property>
  <property fmtid="{D5CDD505-2E9C-101B-9397-08002B2CF9AE}" pid="12" name="Sensitivity">
    <vt:lpwstr>NO CLASSIFICATION</vt:lpwstr>
  </property>
  <property fmtid="{D5CDD505-2E9C-101B-9397-08002B2CF9AE}" pid="13" name="MediaServiceImageTags">
    <vt:lpwstr/>
  </property>
</Properties>
</file>